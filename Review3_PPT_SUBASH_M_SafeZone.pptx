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507" r:id="rId20"/>
    <p:sldId id="2147470506" r:id="rId19"/>
    <p:sldId id="2147470505" r:id="rId18"/>
    <p:sldId id="2147470504" r:id="rId17"/>
    <p:sldId id="2147470494" r:id="rId6"/>
    <p:sldId id="2147470501" r:id="rId7"/>
    <p:sldId id="2147470498" r:id="rId8"/>
    <p:sldId id="2147470497" r:id="rId9"/>
    <p:sldId id="2147470508" r:id="rId21"/>
    <p:sldId id="2147470499" r:id="rId10"/>
    <p:sldId id="2147470502" r:id="rId11"/>
    <p:sldId id="2147470503" r:id="rId12"/>
    <p:sldId id="2147470509" r:id="rId22"/>
    <p:sldId id="2147470510" r:id="rId23"/>
    <p:sldId id="2147470511" r:id="rId24"/>
    <p:sldId id="2147470512" r:id="rId25"/>
    <p:sldId id="2147470513" r:id="rId26"/>
    <p:sldId id="2147470514" r:id="rId27"/>
    <p:sldId id="2147470515" r:id="rId28"/>
    <p:sldId id="2147470516" r:id="rId29"/>
    <p:sldId id="2147470517" r:id="rId30"/>
    <p:sldId id="2147470518" r:id="rId31"/>
    <p:sldId id="2147470519" r:id="rId32"/>
    <p:sldId id="2147470520" r:id="rId33"/>
    <p:sldId id="2147470521" r:id="rId34"/>
    <p:sldId id="2147470522" r:id="rId35"/>
    <p:sldId id="2147470523" r:id="rId36"/>
    <p:sldId id="2147470524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12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9.xml"/><Relationship Id="rId7" Type="http://schemas.openxmlformats.org/officeDocument/2006/relationships/slide" Target="slides/slide10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4.xml"/><Relationship Id="rId11" Type="http://schemas.openxmlformats.org/officeDocument/2006/relationships/slide" Target="slides/slide15.xml"/><Relationship Id="rId12" Type="http://schemas.openxmlformats.org/officeDocument/2006/relationships/slide" Target="slides/slide16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8.xml"/><Relationship Id="rId18" Type="http://schemas.openxmlformats.org/officeDocument/2006/relationships/slide" Target="slides/slide7.xml"/><Relationship Id="rId19" Type="http://schemas.openxmlformats.org/officeDocument/2006/relationships/slide" Target="slides/slide6.xml"/><Relationship Id="rId20" Type="http://schemas.openxmlformats.org/officeDocument/2006/relationships/slide" Target="slides/slide5.xml"/><Relationship Id="rId21" Type="http://schemas.openxmlformats.org/officeDocument/2006/relationships/slide" Target="slides/slide13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Relationship Id="rId17" Type="http://schemas.microsoft.com/office/2007/relationships/hdphoto" Target="../media/hdphoto1.wdp"/><Relationship Id="rId18" Type="http://schemas.openxmlformats.org/officeDocument/2006/relationships/image" Target="../media/image3.png"/><Relationship Id="rId19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3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3.wdp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560000"/>
            <a:ext cx="11428184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sz="3200">
                <a:solidFill>
                  <a:srgbClr val="FFFFFF"/>
                </a:solidFill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sz="2400">
                <a:solidFill>
                  <a:srgbClr val="FFFFFF"/>
                </a:solidFill>
              </a:rPr>
              <a:t>Project Title</a:t>
            </a:r>
          </a:p>
          <a:p>
            <a:pPr lvl="0" algn="ctr">
              <a:defRPr/>
            </a:pPr>
            <a:r>
              <a:rPr b="1" sz="2600">
                <a:solidFill>
                  <a:srgbClr val="FFFFFF"/>
                </a:solidFill>
              </a:rPr>
              <a:t>Risk- and Cost-Aware AI Maintenance Decision Engine for Industrial Power Assets Using Vibration-Based Fault Diagnosis</a:t>
            </a:r>
          </a:p>
          <a:p>
            <a:pPr lvl="0" algn="ctr">
              <a:defRPr/>
            </a:pPr>
            <a:r>
              <a:rPr b="0" sz="1000">
                <a:solidFill>
                  <a:srgbClr val="FFFFFF"/>
                </a:solidFill>
              </a:rPr>
              <a:t/>
            </a:r>
          </a:p>
          <a:p>
            <a:pPr lvl="0" algn="ctr">
              <a:defRPr/>
            </a:pPr>
            <a:r>
              <a:rPr b="1" sz="1800">
                <a:solidFill>
                  <a:srgbClr val="FFFFFF"/>
                </a:solidFill>
              </a:rPr>
              <a:t>Team Member</a:t>
            </a:r>
          </a:p>
          <a:p>
            <a:pPr algn="ctr">
              <a:defRPr/>
            </a:pPr>
            <a:r>
              <a:rPr b="1" sz="2200">
                <a:solidFill>
                  <a:srgbClr val="FFFFFF"/>
                </a:solidFill>
              </a:rPr>
              <a:t>SUBASH M  |  T9970</a:t>
            </a:r>
          </a:p>
          <a:p>
            <a:pPr lvl="0" algn="ctr">
              <a:defRPr/>
            </a:pPr>
            <a:r>
              <a:rPr b="1" sz="1600">
                <a:solidFill>
                  <a:srgbClr val="FFFFFF"/>
                </a:solidFill>
              </a:rPr>
              <a:t>RAJALAKSHMI ENGINEERING COLLEGE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b="0" sz="2200">
                <a:solidFill>
                  <a:srgbClr val="1F3864"/>
                </a:solidFill>
                <a:latin typeface="Calibri"/>
              </a:rPr>
              <a:t>Unplanned failures of </a:t>
            </a:r>
            <a:r>
              <a:rPr b="1" sz="2200">
                <a:solidFill>
                  <a:srgbClr val="1F3864"/>
                </a:solidFill>
                <a:latin typeface="Calibri"/>
              </a:rPr>
              <a:t>motors, pumps and generators</a:t>
            </a:r>
            <a:r>
              <a:rPr b="0" sz="2200">
                <a:solidFill>
                  <a:srgbClr val="1F3864"/>
                </a:solidFill>
                <a:latin typeface="Calibri"/>
              </a:rPr>
              <a:t> stop production lines and raise repair costs; bearing faults are a leading cause of motor failure.</a:t>
            </a:r>
          </a:p>
          <a:p>
            <a:pPr>
              <a:spcBef>
                <a:spcPts val="600"/>
              </a:spcBef>
            </a:pPr>
            <a:r>
              <a:rPr b="0" sz="2200">
                <a:solidFill>
                  <a:srgbClr val="1F3864"/>
                </a:solidFill>
                <a:latin typeface="Calibri"/>
              </a:rPr>
              <a:t>Vibration signals carry fault signatures that a 1D-CNN classifies as Normal, Ball, Inner-Race or Outer-Race faults.</a:t>
            </a:r>
          </a:p>
          <a:p>
            <a:pPr>
              <a:spcBef>
                <a:spcPts val="600"/>
              </a:spcBef>
            </a:pPr>
            <a:r>
              <a:rPr b="0" sz="2200">
                <a:solidFill>
                  <a:srgbClr val="1F3864"/>
                </a:solidFill>
                <a:latin typeface="Calibri"/>
              </a:rPr>
              <a:t>Diagnosis alone does not tell the maintenance team what to do next, so this system adds risk scoring and cost analysis on top of it.</a:t>
            </a:r>
          </a:p>
          <a:p>
            <a:pPr>
              <a:spcBef>
                <a:spcPts val="600"/>
              </a:spcBef>
            </a:pPr>
            <a:r>
              <a:rPr b="0" sz="2200">
                <a:solidFill>
                  <a:srgbClr val="1F3864"/>
                </a:solidFill>
                <a:latin typeface="Calibri"/>
              </a:rPr>
              <a:t>The engine links </a:t>
            </a:r>
            <a:r>
              <a:rPr b="1" sz="2200">
                <a:solidFill>
                  <a:srgbClr val="1F3864"/>
                </a:solidFill>
                <a:latin typeface="Calibri"/>
              </a:rPr>
              <a:t>diagnosis → risk → cost → action</a:t>
            </a:r>
            <a:r>
              <a:rPr b="0" sz="2200">
                <a:solidFill>
                  <a:srgbClr val="1F3864"/>
                </a:solidFill>
                <a:latin typeface="Calibri"/>
              </a:rPr>
              <a:t> and recommends Monitor, Inspect or Repair through a Streamlit dashboard.</a:t>
            </a:r>
          </a:p>
          <a:p>
            <a:pPr>
              <a:spcBef>
                <a:spcPts val="600"/>
              </a:spcBef>
            </a:pPr>
            <a:r>
              <a:rPr b="0" sz="2200">
                <a:solidFill>
                  <a:srgbClr val="1F3864"/>
                </a:solidFill>
                <a:latin typeface="Calibri"/>
              </a:rPr>
              <a:t>Review III covers the implemented modules, results, conclusion and references.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Risk- and Cost-Aware AI Maintenance Decision Engine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b="0" sz="2200">
                <a:solidFill>
                  <a:srgbClr val="1F3864"/>
                </a:solidFill>
                <a:latin typeface="Calibri"/>
              </a:rPr>
              <a:t>Build a </a:t>
            </a:r>
            <a:r>
              <a:rPr b="1" sz="2200">
                <a:solidFill>
                  <a:srgbClr val="1F3864"/>
                </a:solidFill>
                <a:latin typeface="Calibri"/>
              </a:rPr>
              <a:t>1D-CNN classifier</a:t>
            </a:r>
            <a:r>
              <a:rPr b="0" sz="2200">
                <a:solidFill>
                  <a:srgbClr val="1F3864"/>
                </a:solidFill>
                <a:latin typeface="Calibri"/>
              </a:rPr>
              <a:t> for Normal, Ball, Inner-Race and Outer-Race faults from raw vibration segments.</a:t>
            </a:r>
          </a:p>
          <a:p>
            <a:pPr>
              <a:spcBef>
                <a:spcPts val="600"/>
              </a:spcBef>
            </a:pPr>
            <a:r>
              <a:rPr b="0" sz="2200">
                <a:solidFill>
                  <a:srgbClr val="1F3864"/>
                </a:solidFill>
                <a:latin typeface="Calibri"/>
              </a:rPr>
              <a:t>Benchmark it against Random Forest and SVM trained on handcrafted time- and frequency-domain features.</a:t>
            </a:r>
          </a:p>
          <a:p>
            <a:pPr>
              <a:spcBef>
                <a:spcPts val="600"/>
              </a:spcBef>
            </a:pPr>
            <a:r>
              <a:rPr b="0" sz="2200">
                <a:solidFill>
                  <a:srgbClr val="1F3864"/>
                </a:solidFill>
                <a:latin typeface="Calibri"/>
              </a:rPr>
              <a:t>Test whether </a:t>
            </a:r>
            <a:r>
              <a:rPr b="1" sz="2200">
                <a:solidFill>
                  <a:srgbClr val="1F3864"/>
                </a:solidFill>
                <a:latin typeface="Calibri"/>
              </a:rPr>
              <a:t>C-GAN synthetic signals</a:t>
            </a:r>
            <a:r>
              <a:rPr b="0" sz="2200">
                <a:solidFill>
                  <a:srgbClr val="1F3864"/>
                </a:solidFill>
                <a:latin typeface="Calibri"/>
              </a:rPr>
              <a:t> improve classification of minority fault classes.</a:t>
            </a:r>
          </a:p>
          <a:p>
            <a:pPr>
              <a:spcBef>
                <a:spcPts val="600"/>
              </a:spcBef>
            </a:pPr>
            <a:r>
              <a:rPr b="0" sz="2200">
                <a:solidFill>
                  <a:srgbClr val="1F3864"/>
                </a:solidFill>
                <a:latin typeface="Calibri"/>
              </a:rPr>
              <a:t>Compute a dynamic risk score from fault probability, severity, asset criticality and operating stress.</a:t>
            </a:r>
          </a:p>
          <a:p>
            <a:pPr>
              <a:spcBef>
                <a:spcPts val="600"/>
              </a:spcBef>
            </a:pPr>
            <a:r>
              <a:rPr b="0" sz="2200">
                <a:solidFill>
                  <a:srgbClr val="1F3864"/>
                </a:solidFill>
                <a:latin typeface="Calibri"/>
              </a:rPr>
              <a:t>Recommend the action with the </a:t>
            </a:r>
            <a:r>
              <a:rPr b="1" sz="2200">
                <a:solidFill>
                  <a:srgbClr val="1F3864"/>
                </a:solidFill>
                <a:latin typeface="Calibri"/>
              </a:rPr>
              <a:t>lowest expected cost</a:t>
            </a:r>
            <a:r>
              <a:rPr b="0" sz="2200">
                <a:solidFill>
                  <a:srgbClr val="1F3864"/>
                </a:solidFill>
                <a:latin typeface="Calibri"/>
              </a:rPr>
              <a:t> and present it in a Streamlit dashboard.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Risk- and Cost-Aware AI Maintenance Decision Engine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Data Acquisition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Drive-end accelerometer signals from the </a:t>
            </a:r>
            <a:r>
              <a:rPr b="0" sz="2100">
                <a:solidFill>
                  <a:srgbClr val="1F3864"/>
                </a:solidFill>
                <a:latin typeface="Calibri"/>
              </a:rPr>
              <a:t>CWRU Bearing Dataset</a:t>
            </a:r>
            <a:r>
              <a:rPr b="0" sz="2100">
                <a:solidFill>
                  <a:srgbClr val="1F3864"/>
                </a:solidFill>
                <a:latin typeface="Calibri"/>
              </a:rPr>
              <a:t>, sampled at 12 kHz under motor loads of 0–3 HP.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Ball, Inner-Race and Outer-Race faults at 0.007", 0.014" and 0.021" diameters, plus Normal baseline recordings.</a:t>
            </a:r>
          </a:p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Segmentation &amp; Labelling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Signals are cut into </a:t>
            </a:r>
            <a:r>
              <a:rPr b="0" sz="2100">
                <a:solidFill>
                  <a:srgbClr val="1F3864"/>
                </a:solidFill>
                <a:latin typeface="Calibri"/>
              </a:rPr>
              <a:t>fixed-length overlapping windows</a:t>
            </a:r>
            <a:r>
              <a:rPr b="0" sz="2100">
                <a:solidFill>
                  <a:srgbClr val="1F3864"/>
                </a:solidFill>
                <a:latin typeface="Calibri"/>
              </a:rPr>
              <a:t> and each window is z-score normalised.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Each window carries one of 4 class labels.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Train, validation and test sets are split by recording, so windows from one recording never appear in two sets.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1 – Data Preprocessing &amp; Signal Segmentation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Risk- and Cost-Aware AI Maintenance Decision Engine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Model Design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Stacked </a:t>
            </a:r>
            <a:r>
              <a:rPr b="1" sz="2100">
                <a:solidFill>
                  <a:srgbClr val="1F3864"/>
                </a:solidFill>
                <a:latin typeface="Calibri"/>
              </a:rPr>
              <a:t>Conv1D → BatchNorm → ReLU → MaxPool</a:t>
            </a:r>
            <a:r>
              <a:rPr b="0" sz="2100">
                <a:solidFill>
                  <a:srgbClr val="1F3864"/>
                </a:solidFill>
                <a:latin typeface="Calibri"/>
              </a:rPr>
              <a:t> blocks learn fault patterns from raw signals.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Global average pooling and a softmax layer output a probability for each of the 4 classes.</a:t>
            </a:r>
          </a:p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Training &amp; Evaluation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Adam optimiser, cross-entropy loss and early stopping on validation loss.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Accuracy, macro-F1 and the confusion matrix are reported per motor load.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Random Forest and SVM on RMS, kurtosis, crest factor and FFT band energies serve as baselines.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2 – Bearing Fault Diagnosis (1D-CNN)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Risk- and Cost-Aware AI Maintenance Decision Engine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Generator &amp; Discriminator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A </a:t>
            </a:r>
            <a:r>
              <a:rPr b="1" sz="2100">
                <a:solidFill>
                  <a:srgbClr val="1F3864"/>
                </a:solidFill>
                <a:latin typeface="Calibri"/>
              </a:rPr>
              <a:t>class-conditioned 1D generator</a:t>
            </a:r>
            <a:r>
              <a:rPr b="0" sz="2100">
                <a:solidFill>
                  <a:srgbClr val="1F3864"/>
                </a:solidFill>
                <a:latin typeface="Calibri"/>
              </a:rPr>
              <a:t> produces vibration segments for a chosen fault type.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The discriminator separates real from synthetic segments for each class.</a:t>
            </a:r>
          </a:p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Quality &amp; Augmentation Study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Synthetic segments are compared with real ones on FFT spectra, RMS and kurtosis.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The 1D-CNN is trained with and without synthetic data to measure the change in minority-class F1.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3 – C-GAN Synthetic Vibration Data Generation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Risk- and Cost-Aware AI Maintenance Decision Engine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Risk Factors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Fault probability P comes from the 1D-CNN softmax output.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Severity is weighted by fault type and fault diameter.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Asset criticality C and operating stress S come from asset role, load and speed.</a:t>
            </a:r>
          </a:p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Risk Scoring</a:t>
            </a:r>
          </a:p>
          <a:p>
            <a:pPr>
              <a:spcBef>
                <a:spcPts val="600"/>
              </a:spcBef>
            </a:pPr>
            <a:r>
              <a:rPr b="1" sz="2100">
                <a:solidFill>
                  <a:srgbClr val="1F3864"/>
                </a:solidFill>
                <a:latin typeface="Calibri"/>
              </a:rPr>
              <a:t>Risk = P × Severity × C × S</a:t>
            </a:r>
            <a:r>
              <a:rPr b="0" sz="2100">
                <a:solidFill>
                  <a:srgbClr val="1F3864"/>
                </a:solidFill>
                <a:latin typeface="Calibri"/>
              </a:rPr>
              <a:t>, normalised to a 0–1 scale.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The score maps to Low, Medium or High and is recomputed for every new signal window.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4 – Dynamic Risk Assessment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Risk- and Cost-Aware AI Maintenance Decision Engine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Cost-Aware Decision</a:t>
            </a:r>
          </a:p>
          <a:p>
            <a:pPr>
              <a:spcBef>
                <a:spcPts val="600"/>
              </a:spcBef>
            </a:pPr>
            <a:r>
              <a:rPr b="1" sz="2100">
                <a:solidFill>
                  <a:srgbClr val="1F3864"/>
                </a:solidFill>
                <a:latin typeface="Calibri"/>
              </a:rPr>
              <a:t>Expected cost = action cost + residual failure probability × failure cost</a:t>
            </a:r>
            <a:r>
              <a:rPr b="0" sz="2100">
                <a:solidFill>
                  <a:srgbClr val="1F3864"/>
                </a:solidFill>
                <a:latin typeface="Calibri"/>
              </a:rPr>
              <a:t> for each action.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Failure cost includes downtime, repair and secondary damage.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The action with the lowest expected cost is recommended.</a:t>
            </a:r>
          </a:p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Streamlit Dashboard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A user uploads a signal and sees the predicted fault, confidence, risk gauge, cost comparison and recommended action.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5 – Cost-Aware Decision Engine &amp; Dashboard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Risk- and Cost-Aware AI Maintenance Decision Engine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Risk- and Cost-Aware AI Maintenance Decision Engine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00000" y="1400000"/>
            <a:ext cx="5650000" cy="395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0000" y="1500000"/>
            <a:ext cx="5350000" cy="45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1" sz="2000">
                <a:solidFill>
                  <a:srgbClr val="1C4D98"/>
                </a:solidFill>
                <a:latin typeface="Calibri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1960000"/>
            <a:ext cx="5350000" cy="331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0" sz="1700">
                <a:solidFill>
                  <a:srgbClr val="1F3864"/>
                </a:solidFill>
                <a:latin typeface="Calibri"/>
              </a:rPr>
              <a:t>Bearing faults in motors, pumps and generators cause unplanned shutdowns.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0" sz="1700">
                <a:solidFill>
                  <a:srgbClr val="1F3864"/>
                </a:solidFill>
                <a:latin typeface="Calibri"/>
              </a:rPr>
              <a:t>Most fault-diagnosis models stop at a class label such as "Inner-Race fault".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0" sz="1700">
                <a:solidFill>
                  <a:srgbClr val="1F3864"/>
                </a:solidFill>
                <a:latin typeface="Calibri"/>
              </a:rPr>
              <a:t>A label does not say how urgent the fault is or which action costs least.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0" sz="1700">
                <a:solidFill>
                  <a:srgbClr val="1F3864"/>
                </a:solidFill>
                <a:latin typeface="Calibri"/>
              </a:rPr>
              <a:t>Maintenance teams then decide on experience alone, which leads to early repairs or missed failures.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0000" y="1400000"/>
            <a:ext cx="5650000" cy="3950000"/>
          </a:xfrm>
          <a:prstGeom prst="roundRect">
            <a:avLst>
              <a:gd name="adj" fmla="val 8000"/>
            </a:avLst>
          </a:prstGeom>
          <a:solidFill>
            <a:srgbClr val="E6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90000" y="1500000"/>
            <a:ext cx="5350000" cy="45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1" sz="2000">
                <a:solidFill>
                  <a:srgbClr val="2E9CA6"/>
                </a:solidFill>
                <a:latin typeface="Calibri"/>
              </a:rPr>
              <a:t>What this project addresses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0000" y="1960000"/>
            <a:ext cx="5350000" cy="331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0" sz="1700">
                <a:solidFill>
                  <a:srgbClr val="1F3864"/>
                </a:solidFill>
                <a:latin typeface="Calibri"/>
              </a:rPr>
              <a:t>Diagnose the fault type from vibration signals with a 1D-CNN.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0" sz="1700">
                <a:solidFill>
                  <a:srgbClr val="1F3864"/>
                </a:solidFill>
                <a:latin typeface="Calibri"/>
              </a:rPr>
              <a:t>Turn the diagnosis into a risk score using severity, criticality and operating stress.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0" sz="1700">
                <a:solidFill>
                  <a:srgbClr val="1F3864"/>
                </a:solidFill>
                <a:latin typeface="Calibri"/>
              </a:rPr>
              <a:t>Compare the expected cost of Monitor, Inspect and Repair.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0" sz="1700">
                <a:solidFill>
                  <a:srgbClr val="1F3864"/>
                </a:solidFill>
                <a:latin typeface="Calibri"/>
              </a:rPr>
              <a:t>Give one recommended action with its reasoning in a dashboard.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Risk- and Cost-Aware AI Maintenance Decision Engine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00000" y="1420000"/>
            <a:ext cx="2198000" cy="29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169000" y="1540000"/>
            <a:ext cx="460000" cy="460000"/>
          </a:xfrm>
          <a:prstGeom prst="ellipse">
            <a:avLst/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000" y="2060000"/>
            <a:ext cx="2118000" cy="5600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b="1" sz="1600">
                <a:solidFill>
                  <a:srgbClr val="1C4D98"/>
                </a:solidFill>
                <a:latin typeface="Calibri"/>
              </a:rPr>
              <a:t>Data Preparation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000" y="2640000"/>
            <a:ext cx="2118000" cy="164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Load CWRU signals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Window, normalise, label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Split by recording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08000" y="2870000"/>
            <a:ext cx="13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648000" y="1420000"/>
            <a:ext cx="2198000" cy="29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3517000" y="1540000"/>
            <a:ext cx="460000" cy="460000"/>
          </a:xfrm>
          <a:prstGeom prst="ellipse">
            <a:avLst/>
          </a:prstGeom>
          <a:solidFill>
            <a:srgbClr val="2E9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8000" y="2060000"/>
            <a:ext cx="2118000" cy="5600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b="1" sz="1600">
                <a:solidFill>
                  <a:srgbClr val="1C4D98"/>
                </a:solidFill>
                <a:latin typeface="Calibri"/>
              </a:rPr>
              <a:t>Fault Diagnosis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8000" y="2640000"/>
            <a:ext cx="2118000" cy="164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Baseline ML on features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1D-CNN on raw signals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Compare F1 &amp; accuracy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56000" y="2870000"/>
            <a:ext cx="13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996000" y="1420000"/>
            <a:ext cx="2198000" cy="29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5865000" y="1540000"/>
            <a:ext cx="460000" cy="460000"/>
          </a:xfrm>
          <a:prstGeom prst="ellipse">
            <a:avLst/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36000" y="2060000"/>
            <a:ext cx="2118000" cy="5600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b="1" sz="1600">
                <a:solidFill>
                  <a:srgbClr val="1C4D98"/>
                </a:solidFill>
                <a:latin typeface="Calibri"/>
              </a:rPr>
              <a:t>Data Augmentation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6000" y="2640000"/>
            <a:ext cx="2118000" cy="164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Train class-conditioned C-GAN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Check synthetic quality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Retrain with augmentation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04000" y="2870000"/>
            <a:ext cx="13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44000" y="1420000"/>
            <a:ext cx="2198000" cy="29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8213000" y="1540000"/>
            <a:ext cx="460000" cy="460000"/>
          </a:xfrm>
          <a:prstGeom prst="ellipse">
            <a:avLst/>
          </a:prstGeom>
          <a:solidFill>
            <a:srgbClr val="2E9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4000" y="2060000"/>
            <a:ext cx="2118000" cy="5600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b="1" sz="1600">
                <a:solidFill>
                  <a:srgbClr val="1C4D98"/>
                </a:solidFill>
                <a:latin typeface="Calibri"/>
              </a:rPr>
              <a:t>Risk Scoring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4000" y="2640000"/>
            <a:ext cx="2118000" cy="164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Combine P, severity, criticality, stress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Low / Medium / High bands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552000" y="2870000"/>
            <a:ext cx="13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92000" y="1420000"/>
            <a:ext cx="2198000" cy="29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10561000" y="1540000"/>
            <a:ext cx="460000" cy="460000"/>
          </a:xfrm>
          <a:prstGeom prst="ellipse">
            <a:avLst/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2000" y="2060000"/>
            <a:ext cx="2118000" cy="5600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b="1" sz="1600">
                <a:solidFill>
                  <a:srgbClr val="1C4D98"/>
                </a:solidFill>
                <a:latin typeface="Calibri"/>
              </a:rPr>
              <a:t>Decision &amp; 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2000" y="2640000"/>
            <a:ext cx="2118000" cy="164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Expected cost per action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Recommend best action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Streamlit dashboard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0000" y="4500000"/>
            <a:ext cx="11590000" cy="820000"/>
          </a:xfrm>
          <a:prstGeom prst="roundRect">
            <a:avLst>
              <a:gd name="adj" fmla="val 8000"/>
            </a:avLst>
          </a:prstGeom>
          <a:solidFill>
            <a:srgbClr val="E6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/>
            <a:r>
              <a:rPr b="1" sz="1600">
                <a:solidFill>
                  <a:srgbClr val="1F3864"/>
                </a:solidFill>
                <a:latin typeface="Calibri"/>
              </a:rPr>
              <a:t>Modeling plan:  </a:t>
            </a:r>
            <a:r>
              <a:rPr b="0" sz="1600">
                <a:solidFill>
                  <a:srgbClr val="1F3864"/>
                </a:solidFill>
                <a:latin typeface="Calibri"/>
              </a:rPr>
              <a:t>baseline ML → 1D-CNN → 1D-CNN + C-GAN augmentation, compared on accuracy and macro-F1 at each motor load; the best model feeds the risk and cost engine.</a:t>
            </a:r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Risk- and Cost-Aware AI Maintenance Decision Engine</a:t>
            </a:r>
          </a:p>
          <a:p>
            <a:pPr algn="r"/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0000" y="1400000"/>
          <a:ext cx="11590000" cy="40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0000"/>
                <a:gridCol w="5600000"/>
                <a:gridCol w="3090000"/>
              </a:tblGrid>
              <a:tr h="450000"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  <a:latin typeface="Calibri"/>
                        </a:rPr>
                        <a:t>Algorithm / Technique</a:t>
                      </a:r>
                    </a:p>
                  </a:txBody>
                  <a:tcPr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  <a:latin typeface="Calibri"/>
                        </a:rPr>
                        <a:t>Tools</a:t>
                      </a:r>
                    </a:p>
                  </a:txBody>
                  <a:tcPr>
                    <a:solidFill>
                      <a:srgbClr val="1C4D98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Signal processing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Windowing, FFT, envelope analysis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NumPy, SciPy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Baseline classifier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Random Forest / SVM on handcrafted features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Scikit-learn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Fault diagnosis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1D Convolutional Neural Network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PyTorch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Synthetic data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Conditional GAN (C-GAN)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PyTorch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Risk engine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Weighted risk score: P × Sev × C × S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Cost decision engine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Expected-cost minimisation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Dashboard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Interactive decision support UI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Streamlit, Plotly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Version control &amp; containerisation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Git, Docker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</a:rPr>
              <a:t>Findings and Results – Model Performance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Risk- and Cost-Aware AI Maintenance Decision Engine</a:t>
            </a:r>
          </a:p>
          <a:p>
            <a:pPr algn="r"/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0000" y="1400000"/>
          <a:ext cx="11590000" cy="22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0000"/>
                <a:gridCol w="2300000"/>
                <a:gridCol w="2300000"/>
                <a:gridCol w="2400000"/>
              </a:tblGrid>
              <a:tr h="450000"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  <a:latin typeface="Calibri"/>
                        </a:rPr>
                        <a:t>Accuracy (%)</a:t>
                      </a:r>
                    </a:p>
                  </a:txBody>
                  <a:tcPr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  <a:latin typeface="Calibri"/>
                        </a:rPr>
                        <a:t>Minority-class F1</a:t>
                      </a:r>
                    </a:p>
                  </a:txBody>
                  <a:tcPr>
                    <a:solidFill>
                      <a:srgbClr val="1C4D98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Random Forest (handcrafted features)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 i="1">
                          <a:solidFill>
                            <a:srgbClr val="B26A00"/>
                          </a:solidFill>
                          <a:latin typeface="Calibri"/>
                        </a:rPr>
                        <a:t>Enter value</a:t>
                      </a:r>
                    </a:p>
                  </a:txBody>
                  <a:tcPr marT="45000" marB="450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 i="1">
                          <a:solidFill>
                            <a:srgbClr val="B26A00"/>
                          </a:solidFill>
                          <a:latin typeface="Calibri"/>
                        </a:rPr>
                        <a:t>Enter value</a:t>
                      </a:r>
                    </a:p>
                  </a:txBody>
                  <a:tcPr marT="45000" marB="450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 i="1">
                          <a:solidFill>
                            <a:srgbClr val="B26A00"/>
                          </a:solidFill>
                          <a:latin typeface="Calibri"/>
                        </a:rPr>
                        <a:t>Enter value</a:t>
                      </a:r>
                    </a:p>
                  </a:txBody>
                  <a:tcPr marT="45000" marB="45000" anchor="ctr">
                    <a:solidFill>
                      <a:srgbClr val="FFF2C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SVM (handcrafted features)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 i="1">
                          <a:solidFill>
                            <a:srgbClr val="B26A00"/>
                          </a:solidFill>
                          <a:latin typeface="Calibri"/>
                        </a:rPr>
                        <a:t>Enter value</a:t>
                      </a:r>
                    </a:p>
                  </a:txBody>
                  <a:tcPr marT="45000" marB="450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 i="1">
                          <a:solidFill>
                            <a:srgbClr val="B26A00"/>
                          </a:solidFill>
                          <a:latin typeface="Calibri"/>
                        </a:rPr>
                        <a:t>Enter value</a:t>
                      </a:r>
                    </a:p>
                  </a:txBody>
                  <a:tcPr marT="45000" marB="450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 i="1">
                          <a:solidFill>
                            <a:srgbClr val="B26A00"/>
                          </a:solidFill>
                          <a:latin typeface="Calibri"/>
                        </a:rPr>
                        <a:t>Enter value</a:t>
                      </a:r>
                    </a:p>
                  </a:txBody>
                  <a:tcPr marT="45000" marB="45000" anchor="ctr">
                    <a:solidFill>
                      <a:srgbClr val="FFF2C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1D-CNN (raw signals)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 i="1">
                          <a:solidFill>
                            <a:srgbClr val="B26A00"/>
                          </a:solidFill>
                          <a:latin typeface="Calibri"/>
                        </a:rPr>
                        <a:t>Enter value</a:t>
                      </a:r>
                    </a:p>
                  </a:txBody>
                  <a:tcPr marT="45000" marB="450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 i="1">
                          <a:solidFill>
                            <a:srgbClr val="B26A00"/>
                          </a:solidFill>
                          <a:latin typeface="Calibri"/>
                        </a:rPr>
                        <a:t>Enter value</a:t>
                      </a:r>
                    </a:p>
                  </a:txBody>
                  <a:tcPr marT="45000" marB="450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 i="1">
                          <a:solidFill>
                            <a:srgbClr val="B26A00"/>
                          </a:solidFill>
                          <a:latin typeface="Calibri"/>
                        </a:rPr>
                        <a:t>Enter value</a:t>
                      </a:r>
                    </a:p>
                  </a:txBody>
                  <a:tcPr marT="45000" marB="45000" anchor="ctr">
                    <a:solidFill>
                      <a:srgbClr val="FFF2C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1D-CNN + C-GAN augmentation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 i="1">
                          <a:solidFill>
                            <a:srgbClr val="B26A00"/>
                          </a:solidFill>
                          <a:latin typeface="Calibri"/>
                        </a:rPr>
                        <a:t>Enter value</a:t>
                      </a:r>
                    </a:p>
                  </a:txBody>
                  <a:tcPr marT="45000" marB="450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 i="1">
                          <a:solidFill>
                            <a:srgbClr val="B26A00"/>
                          </a:solidFill>
                          <a:latin typeface="Calibri"/>
                        </a:rPr>
                        <a:t>Enter value</a:t>
                      </a:r>
                    </a:p>
                  </a:txBody>
                  <a:tcPr marT="45000" marB="450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 i="1">
                          <a:solidFill>
                            <a:srgbClr val="B26A00"/>
                          </a:solidFill>
                          <a:latin typeface="Calibri"/>
                        </a:rPr>
                        <a:t>Enter value</a:t>
                      </a:r>
                    </a:p>
                  </a:txBody>
                  <a:tcPr marT="45000" marB="45000" anchor="ctr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00000" y="3850000"/>
            <a:ext cx="11590000" cy="70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595959"/>
                </a:solidFill>
                <a:latin typeface="Calibri"/>
              </a:rPr>
              <a:t>Test set: CWRU drive-end windows held out by recording. Add the 1D-CNN confusion matrix image beside or below this table.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</a:rPr>
              <a:t>Findings and Results – Decision Engine Output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Risk- and Cost-Aware AI Maintenance Decision Engine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00000" y="1420000"/>
            <a:ext cx="2198000" cy="29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169000" y="1540000"/>
            <a:ext cx="460000" cy="460000"/>
          </a:xfrm>
          <a:prstGeom prst="ellipse">
            <a:avLst/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000" y="2060000"/>
            <a:ext cx="2118000" cy="5600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b="1" sz="1600">
                <a:solidFill>
                  <a:srgbClr val="1C4D98"/>
                </a:solidFill>
                <a:latin typeface="Calibri"/>
              </a:rPr>
              <a:t>Signal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000" y="2640000"/>
            <a:ext cx="2118000" cy="164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Vibration window uploaded in the dashboard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08000" y="2870000"/>
            <a:ext cx="13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648000" y="1420000"/>
            <a:ext cx="2198000" cy="29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3517000" y="1540000"/>
            <a:ext cx="460000" cy="460000"/>
          </a:xfrm>
          <a:prstGeom prst="ellipse">
            <a:avLst/>
          </a:prstGeom>
          <a:solidFill>
            <a:srgbClr val="2E9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8000" y="2060000"/>
            <a:ext cx="2118000" cy="5600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b="1" sz="1600">
                <a:solidFill>
                  <a:srgbClr val="1C4D98"/>
                </a:solidFill>
                <a:latin typeface="Calibri"/>
              </a:rPr>
              <a:t>Fault Diagnosis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8000" y="2640000"/>
            <a:ext cx="2118000" cy="164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Fault class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Class probability 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56000" y="2870000"/>
            <a:ext cx="13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996000" y="1420000"/>
            <a:ext cx="2198000" cy="29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5865000" y="1540000"/>
            <a:ext cx="460000" cy="460000"/>
          </a:xfrm>
          <a:prstGeom prst="ellipse">
            <a:avLst/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36000" y="2060000"/>
            <a:ext cx="2118000" cy="5600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b="1" sz="1600">
                <a:solidFill>
                  <a:srgbClr val="1C4D98"/>
                </a:solidFill>
                <a:latin typeface="Calibri"/>
              </a:rPr>
              <a:t>Risk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6000" y="2640000"/>
            <a:ext cx="2118000" cy="164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P × Sev × C × S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Low / Medium / High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04000" y="2870000"/>
            <a:ext cx="13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44000" y="1420000"/>
            <a:ext cx="2198000" cy="29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8213000" y="1540000"/>
            <a:ext cx="460000" cy="460000"/>
          </a:xfrm>
          <a:prstGeom prst="ellipse">
            <a:avLst/>
          </a:prstGeom>
          <a:solidFill>
            <a:srgbClr val="2E9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4000" y="2060000"/>
            <a:ext cx="2118000" cy="5600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b="1" sz="1600">
                <a:solidFill>
                  <a:srgbClr val="1C4D98"/>
                </a:solidFill>
                <a:latin typeface="Calibri"/>
              </a:rPr>
              <a:t>Cost 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4000" y="2640000"/>
            <a:ext cx="2118000" cy="164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Expected cost of Monitor, Inspect, Repair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552000" y="2870000"/>
            <a:ext cx="13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92000" y="1420000"/>
            <a:ext cx="2198000" cy="29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10561000" y="1540000"/>
            <a:ext cx="460000" cy="460000"/>
          </a:xfrm>
          <a:prstGeom prst="ellipse">
            <a:avLst/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2000" y="2060000"/>
            <a:ext cx="2118000" cy="5600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b="1" sz="1600">
                <a:solidFill>
                  <a:srgbClr val="1C4D98"/>
                </a:solidFill>
                <a:latin typeface="Calibri"/>
              </a:rPr>
              <a:t>Recommendation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2000" y="2640000"/>
            <a:ext cx="2118000" cy="164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Lowest-cost action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Reason shown to user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0000" y="4500000"/>
            <a:ext cx="11590000" cy="820000"/>
          </a:xfrm>
          <a:prstGeom prst="roundRect">
            <a:avLst>
              <a:gd name="adj" fmla="val 8000"/>
            </a:avLst>
          </a:prstGeom>
          <a:solidFill>
            <a:srgbClr val="E6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/>
            <a:r>
              <a:rPr b="1" sz="1600">
                <a:solidFill>
                  <a:srgbClr val="1F3864"/>
                </a:solidFill>
                <a:latin typeface="Calibri"/>
              </a:rPr>
              <a:t>Output per signal:  </a:t>
            </a:r>
            <a:r>
              <a:rPr b="0" sz="1600">
                <a:solidFill>
                  <a:srgbClr val="1F3864"/>
                </a:solidFill>
                <a:latin typeface="Calibri"/>
              </a:rPr>
              <a:t>fault class, risk band, expected cost of each action and one recommended action, displayed in a single Streamlit view.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2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Risk- and Cost-Aware AI Maintenance Decision Engine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00000" y="1400000"/>
            <a:ext cx="5650000" cy="395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0000" y="1500000"/>
            <a:ext cx="5350000" cy="45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1" sz="2000">
                <a:solidFill>
                  <a:srgbClr val="1C4D98"/>
                </a:solidFill>
                <a:latin typeface="Calibri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1960000"/>
            <a:ext cx="5350000" cy="331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0" sz="1700">
                <a:solidFill>
                  <a:srgbClr val="1F3864"/>
                </a:solidFill>
                <a:latin typeface="Calibri"/>
              </a:rPr>
              <a:t>The system joins fault diagnosis, risk scoring and cost analysis in one pipeline.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0" sz="1700">
                <a:solidFill>
                  <a:srgbClr val="1F3864"/>
                </a:solidFill>
                <a:latin typeface="Calibri"/>
              </a:rPr>
              <a:t>The 1D-CNN classifies 4 bearing conditions from raw CWRU vibration signals.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0" sz="1700">
                <a:solidFill>
                  <a:srgbClr val="1F3864"/>
                </a:solidFill>
                <a:latin typeface="Calibri"/>
              </a:rPr>
              <a:t>C-GAN augmentation is tested as a fix for class imbalance.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0" sz="1700">
                <a:solidFill>
                  <a:srgbClr val="1F3864"/>
                </a:solidFill>
                <a:latin typeface="Calibri"/>
              </a:rPr>
              <a:t>The decision engine converts each diagnosis into a Monitor, Inspect or Repair recommendation with its expected cost.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0000" y="1400000"/>
            <a:ext cx="5650000" cy="3950000"/>
          </a:xfrm>
          <a:prstGeom prst="roundRect">
            <a:avLst>
              <a:gd name="adj" fmla="val 8000"/>
            </a:avLst>
          </a:prstGeom>
          <a:solidFill>
            <a:srgbClr val="E6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90000" y="1500000"/>
            <a:ext cx="5350000" cy="45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1" sz="2000">
                <a:solidFill>
                  <a:srgbClr val="2E9CA6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0000" y="1960000"/>
            <a:ext cx="5350000" cy="331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0" sz="1700">
                <a:solidFill>
                  <a:srgbClr val="1F3864"/>
                </a:solidFill>
                <a:latin typeface="Calibri"/>
              </a:rPr>
              <a:t>CWRU is laboratory data; validation on field data from plant motors is the next step.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0" sz="1700">
                <a:solidFill>
                  <a:srgbClr val="1F3864"/>
                </a:solidFill>
                <a:latin typeface="Calibri"/>
              </a:rPr>
              <a:t>Cost and severity weights are set by assumption and need calibration with plant maintenance records.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0" sz="1700">
                <a:solidFill>
                  <a:srgbClr val="1F3864"/>
                </a:solidFill>
                <a:latin typeface="Calibri"/>
              </a:rPr>
              <a:t>Future work: remaining-useful-life estimation, live sensor streaming and transfer to other asset types.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 marL="0" indent="0">
              <a:spcBef>
                <a:spcPts val="1400"/>
              </a:spcBef>
              <a:buNone/>
            </a:pPr>
            <a:r>
              <a:rPr b="0" sz="2100">
                <a:solidFill>
                  <a:srgbClr val="1F3864"/>
                </a:solidFill>
                <a:latin typeface="Calibri"/>
              </a:rPr>
              <a:t>I thank the </a:t>
            </a:r>
            <a:r>
              <a:rPr b="1" sz="2100">
                <a:solidFill>
                  <a:srgbClr val="1F3864"/>
                </a:solidFill>
                <a:latin typeface="Calibri"/>
              </a:rPr>
              <a:t>management and Principal of Rajalakshmi Engineering College</a:t>
            </a:r>
            <a:r>
              <a:rPr b="0" sz="2100">
                <a:solidFill>
                  <a:srgbClr val="1F3864"/>
                </a:solidFill>
                <a:latin typeface="Calibri"/>
              </a:rPr>
              <a:t> for the facilities and support provided for this project.</a:t>
            </a:r>
          </a:p>
          <a:p>
            <a:pPr marL="0" indent="0">
              <a:spcBef>
                <a:spcPts val="1400"/>
              </a:spcBef>
              <a:buNone/>
            </a:pPr>
            <a:r>
              <a:rPr b="0" sz="2100">
                <a:solidFill>
                  <a:srgbClr val="1F3864"/>
                </a:solidFill>
                <a:latin typeface="Calibri"/>
              </a:rPr>
              <a:t>I thank </a:t>
            </a:r>
            <a:r>
              <a:rPr b="1" sz="2100">
                <a:solidFill>
                  <a:srgbClr val="1F3864"/>
                </a:solidFill>
                <a:latin typeface="Calibri"/>
              </a:rPr>
              <a:t>LTIMindtree</a:t>
            </a:r>
            <a:r>
              <a:rPr b="0" sz="2100">
                <a:solidFill>
                  <a:srgbClr val="1F3864"/>
                </a:solidFill>
                <a:latin typeface="Calibri"/>
              </a:rPr>
              <a:t> (knowledge partner) and </a:t>
            </a:r>
            <a:r>
              <a:rPr b="1" sz="2100">
                <a:solidFill>
                  <a:srgbClr val="1F3864"/>
                </a:solidFill>
                <a:latin typeface="Calibri"/>
              </a:rPr>
              <a:t>L&amp;T EduTech</a:t>
            </a:r>
            <a:r>
              <a:rPr b="0" sz="2100">
                <a:solidFill>
                  <a:srgbClr val="1F3864"/>
                </a:solidFill>
                <a:latin typeface="Calibri"/>
              </a:rPr>
              <a:t> (implementation partner) for the Advanced Industry Integrated Programme and its industry inputs.</a:t>
            </a:r>
          </a:p>
          <a:p>
            <a:pPr marL="0" indent="0">
              <a:spcBef>
                <a:spcPts val="1400"/>
              </a:spcBef>
              <a:buNone/>
            </a:pPr>
            <a:r>
              <a:rPr b="0" sz="2100">
                <a:solidFill>
                  <a:srgbClr val="1F3864"/>
                </a:solidFill>
                <a:latin typeface="Calibri"/>
              </a:rPr>
              <a:t>I thank my </a:t>
            </a:r>
            <a:r>
              <a:rPr b="1" sz="2100">
                <a:solidFill>
                  <a:srgbClr val="1F3864"/>
                </a:solidFill>
                <a:latin typeface="Calibri"/>
              </a:rPr>
              <a:t>project guide and the review panel members</a:t>
            </a:r>
            <a:r>
              <a:rPr b="0" sz="2100">
                <a:solidFill>
                  <a:srgbClr val="1F3864"/>
                </a:solidFill>
                <a:latin typeface="Calibri"/>
              </a:rPr>
              <a:t> for their direction and feedback across Reviews I, II and III.</a:t>
            </a:r>
          </a:p>
          <a:p>
            <a:pPr marL="0" indent="0">
              <a:spcBef>
                <a:spcPts val="1400"/>
              </a:spcBef>
              <a:buNone/>
            </a:pPr>
            <a:r>
              <a:rPr b="0" sz="2100">
                <a:solidFill>
                  <a:srgbClr val="1F3864"/>
                </a:solidFill>
                <a:latin typeface="Calibri"/>
              </a:rPr>
              <a:t>I thank my family and classmates for their encouragement throughout the project.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2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Risk- and Cost-Aware AI Maintenance Decision Engine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 marL="457200" indent="-457200">
              <a:spcBef>
                <a:spcPts val="600"/>
              </a:spcBef>
              <a:buNone/>
            </a:pPr>
            <a:r>
              <a:rPr b="0" sz="1600">
                <a:solidFill>
                  <a:srgbClr val="1F3864"/>
                </a:solidFill>
                <a:latin typeface="Calibri"/>
              </a:rPr>
              <a:t>[1] Y. Wang and L. Chen, "A multi-scale spatial–temporal capsule network based on sequence encoding for bearing fault diagnosis," Complex &amp; Intelligent Systems, 2024.</a:t>
            </a:r>
          </a:p>
          <a:p>
            <a:pPr marL="457200" indent="-457200">
              <a:spcBef>
                <a:spcPts val="600"/>
              </a:spcBef>
              <a:buNone/>
            </a:pPr>
            <a:r>
              <a:rPr b="0" sz="1600">
                <a:solidFill>
                  <a:srgbClr val="1F3864"/>
                </a:solidFill>
                <a:latin typeface="Calibri"/>
              </a:rPr>
              <a:t>[2] P. Li, "A multi-scale attention-based transfer model for cross-bearing fault diagnosis," International Journal of Computational Intelligence Systems, 2024.</a:t>
            </a:r>
          </a:p>
          <a:p>
            <a:pPr marL="457200" indent="-457200">
              <a:spcBef>
                <a:spcPts val="600"/>
              </a:spcBef>
              <a:buNone/>
            </a:pPr>
            <a:r>
              <a:rPr b="0" sz="1600">
                <a:solidFill>
                  <a:srgbClr val="1F3864"/>
                </a:solidFill>
                <a:latin typeface="Calibri"/>
              </a:rPr>
              <a:t>[3] C. Wang, S. Wu and X. Shao, "Unsupervised domain adaptive bearing fault diagnosis based on maximum domain discrepancy," EURASIP Journal on Advances in Signal Processing, 2024.</a:t>
            </a:r>
          </a:p>
          <a:p>
            <a:pPr marL="457200" indent="-457200">
              <a:spcBef>
                <a:spcPts val="600"/>
              </a:spcBef>
              <a:buNone/>
            </a:pPr>
            <a:r>
              <a:rPr b="0" sz="1600">
                <a:solidFill>
                  <a:srgbClr val="1F3864"/>
                </a:solidFill>
                <a:latin typeface="Calibri"/>
              </a:rPr>
              <a:t>[4] C. Peng, Y. Sheng, W. Gui et al., "A rolling bearing fault diagnosis method based on multimodal knowledge graph," IEEE Transactions on Industrial Informatics, 2024.</a:t>
            </a:r>
          </a:p>
          <a:p>
            <a:pPr marL="457200" indent="-457200">
              <a:spcBef>
                <a:spcPts val="600"/>
              </a:spcBef>
              <a:buNone/>
            </a:pPr>
            <a:r>
              <a:rPr b="0" sz="1600">
                <a:solidFill>
                  <a:srgbClr val="1F3864"/>
                </a:solidFill>
                <a:latin typeface="Calibri"/>
              </a:rPr>
              <a:t>[5] W. A. Smith and R. B. Randall, "Rolling element bearing diagnostics using the Case Western Reserve University data: A benchmark study," Mechanical Systems and Signal Processing, vol. 64–65, 2015.</a:t>
            </a:r>
          </a:p>
          <a:p>
            <a:pPr marL="457200" indent="-457200">
              <a:spcBef>
                <a:spcPts val="600"/>
              </a:spcBef>
              <a:buNone/>
            </a:pPr>
            <a:r>
              <a:rPr b="0" sz="1600">
                <a:solidFill>
                  <a:srgbClr val="1F3864"/>
                </a:solidFill>
                <a:latin typeface="Calibri"/>
              </a:rPr>
              <a:t>[6] T. Ince, S. Kiranyaz, L. Eren, M. Askar and M. Gabbouj, "Real-time motor fault detection by 1-D convolutional neural networks," IEEE Transactions on Industrial Electronics, vol. 63, no. 11, 2016.</a:t>
            </a:r>
          </a:p>
          <a:p>
            <a:pPr marL="457200" indent="-457200">
              <a:spcBef>
                <a:spcPts val="600"/>
              </a:spcBef>
              <a:buNone/>
            </a:pPr>
            <a:r>
              <a:rPr b="0" sz="1600">
                <a:solidFill>
                  <a:srgbClr val="1F3864"/>
                </a:solidFill>
                <a:latin typeface="Calibri"/>
              </a:rPr>
              <a:t>[7] M. Mirza and S. Osindero, "Conditional generative adversarial nets," arXiv:1411.1784, 2014.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200" b="1" dirty="0">
                <a:solidFill>
                  <a:srgbClr val="5B9BD5">
                    <a:lumMod val="50000"/>
                  </a:srgbClr>
                </a:solidFill>
              </a:rPr>
              <a:t>References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Risk- and Cost-Aware AI Maintenance Decision Engine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560000"/>
            <a:ext cx="11428184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sz="3200">
                <a:solidFill>
                  <a:srgbClr val="FFFFFF"/>
                </a:solidFill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sz="2400">
                <a:solidFill>
                  <a:srgbClr val="FFFFFF"/>
                </a:solidFill>
              </a:rPr>
              <a:t>Project Title</a:t>
            </a:r>
          </a:p>
          <a:p>
            <a:pPr lvl="0" algn="ctr">
              <a:defRPr/>
            </a:pPr>
            <a:r>
              <a:rPr b="1" sz="2600">
                <a:solidFill>
                  <a:srgbClr val="FFFFFF"/>
                </a:solidFill>
              </a:rPr>
              <a:t>SafeZone: A Real-Time Worker-Machinery Proximity Alert System for Construction Sites Using YOLO and Perspective-Corrected Distance Estimation</a:t>
            </a:r>
          </a:p>
          <a:p>
            <a:pPr lvl="0" algn="ctr">
              <a:defRPr/>
            </a:pPr>
            <a:r>
              <a:rPr b="0" sz="1000">
                <a:solidFill>
                  <a:srgbClr val="FFFFFF"/>
                </a:solidFill>
              </a:rPr>
              <a:t/>
            </a:r>
          </a:p>
          <a:p>
            <a:pPr lvl="0" algn="ctr">
              <a:defRPr/>
            </a:pPr>
            <a:r>
              <a:rPr b="1" sz="1800">
                <a:solidFill>
                  <a:srgbClr val="FFFFFF"/>
                </a:solidFill>
              </a:rPr>
              <a:t>Team Member</a:t>
            </a:r>
          </a:p>
          <a:p>
            <a:pPr algn="ctr">
              <a:defRPr/>
            </a:pPr>
            <a:r>
              <a:rPr b="1" sz="2200">
                <a:solidFill>
                  <a:srgbClr val="FFFFFF"/>
                </a:solidFill>
              </a:rPr>
              <a:t>SUBASH M  |  T9970</a:t>
            </a:r>
          </a:p>
          <a:p>
            <a:pPr lvl="0" algn="ctr">
              <a:defRPr/>
            </a:pPr>
            <a:r>
              <a:rPr b="1" sz="1600">
                <a:solidFill>
                  <a:srgbClr val="FFFFFF"/>
                </a:solidFill>
              </a:rPr>
              <a:t>RAJALAKSHMI ENGINEERING COLLEGE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Struck-by contact with </a:t>
            </a:r>
            <a:r>
              <a:rPr b="0" sz="2100">
                <a:solidFill>
                  <a:srgbClr val="1F3864"/>
                </a:solidFill>
                <a:latin typeface="Calibri"/>
              </a:rPr>
              <a:t>excavators, loaders and dump trucks</a:t>
            </a:r>
            <a:r>
              <a:rPr b="0" sz="2100">
                <a:solidFill>
                  <a:srgbClr val="1F3864"/>
                </a:solidFill>
                <a:latin typeface="Calibri"/>
              </a:rPr>
              <a:t> injures workers on construction sites because operators have blind spots around the machine.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A supervisor cannot watch every camera at once, so most close calls go unseen and unrecorded.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SafeZone detects and tracks workers and machines in site video with YOLO11n and ByteTrack.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It measures worker-machine distance in metres through </a:t>
            </a:r>
            <a:r>
              <a:rPr b="0" sz="2100">
                <a:solidFill>
                  <a:srgbClr val="1F3864"/>
                </a:solidFill>
                <a:latin typeface="Calibri"/>
              </a:rPr>
              <a:t>homography calibration</a:t>
            </a:r>
            <a:r>
              <a:rPr b="0" sz="2100">
                <a:solidFill>
                  <a:srgbClr val="1F3864"/>
                </a:solidFill>
                <a:latin typeface="Calibri"/>
              </a:rPr>
              <a:t> and raises Safe, Warning or Danger alerts with time-to-contact.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Review III covers the implemented modules, results, conclusion and references.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SafeZone Proximity Alert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Detect and track workers and construction machines in site video with </a:t>
            </a:r>
            <a:r>
              <a:rPr b="1" sz="2100">
                <a:solidFill>
                  <a:srgbClr val="1F3864"/>
                </a:solidFill>
                <a:latin typeface="Calibri"/>
              </a:rPr>
              <a:t>YOLO11n and ByteTrack</a:t>
            </a:r>
            <a:r>
              <a:rPr b="0" sz="2100">
                <a:solidFill>
                  <a:srgbClr val="1F3864"/>
                </a:solidFill>
                <a:latin typeface="Calibri"/>
              </a:rPr>
              <a:t>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Map each worker and machine to ground coordinates in metres with a camera homography.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Estimate worker-machine distance, machine motion state and time-to-contact for every pair.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Raise Safe, Warning or Danger alerts and log each near-miss with a snapshot.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Show live alerts, a ground-plane map, analytics and PDF reports in a Streamlit dashboard.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SafeZone Proximity Alert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Datasets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Construction Site Safety Image Dataset: 2,801 images in YOLO format; Person, machinery and vehicle classes used.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MOCS (41,668 images, 13 classes) is planned for machine-type labels such as excavator and loader.</a:t>
            </a:r>
          </a:p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Detector Training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YOLO11n is fine-tuned from COCO weights on a Kaggle T4 GPU at 640 px.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Per-class precision, recall and mAP@0.5 are measured on the validation split.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The model is exported to OpenVINO for CPU inference on an Intel laptop.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1 – Data Preparation &amp; Detector Training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SafeZone Proximity Alert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 marL="0" indent="0">
              <a:spcBef>
                <a:spcPts val="1000"/>
              </a:spcBef>
              <a:buNone/>
            </a:pPr>
            <a:r>
              <a:rPr b="1" sz="2200">
                <a:solidFill>
                  <a:srgbClr val="5583D1"/>
                </a:solidFill>
                <a:latin typeface="Calibri"/>
              </a:rPr>
              <a:t>Multi-Object Tracking</a:t>
            </a:r>
          </a:p>
          <a:p>
            <a:pPr>
              <a:spcBef>
                <a:spcPts val="600"/>
              </a:spcBef>
            </a:pPr>
            <a:r>
              <a:rPr b="0" sz="2000">
                <a:solidFill>
                  <a:srgbClr val="1F3864"/>
                </a:solidFill>
                <a:latin typeface="Calibri"/>
              </a:rPr>
              <a:t>ByteTrack links detections across frames and gives each worker and machine a stable ID.</a:t>
            </a:r>
          </a:p>
          <a:p>
            <a:pPr>
              <a:spcBef>
                <a:spcPts val="600"/>
              </a:spcBef>
            </a:pPr>
            <a:r>
              <a:rPr b="0" sz="2000">
                <a:solidFill>
                  <a:srgbClr val="1F3864"/>
                </a:solidFill>
                <a:latin typeface="Calibri"/>
              </a:rPr>
              <a:t>Each ID keeps a 1.5 s history of </a:t>
            </a:r>
            <a:r>
              <a:rPr b="1" sz="2000">
                <a:solidFill>
                  <a:srgbClr val="1F3864"/>
                </a:solidFill>
                <a:latin typeface="Calibri"/>
              </a:rPr>
              <a:t>ground positions</a:t>
            </a:r>
            <a:r>
              <a:rPr b="0" sz="2000">
                <a:solidFill>
                  <a:srgbClr val="1F3864"/>
                </a:solidFill>
                <a:latin typeface="Calibri"/>
              </a:rPr>
              <a:t> for speed estimation.</a:t>
            </a:r>
          </a:p>
          <a:p>
            <a:pPr>
              <a:spcBef>
                <a:spcPts val="600"/>
              </a:spcBef>
            </a:pPr>
            <a:r>
              <a:rPr b="0" sz="2000">
                <a:solidFill>
                  <a:srgbClr val="1F3864"/>
                </a:solidFill>
                <a:latin typeface="Calibri"/>
              </a:rPr>
              <a:t>Box positions are smoothed to reduce detector jitter.</a:t>
            </a:r>
          </a:p>
          <a:p>
            <a:pPr marL="0" indent="0">
              <a:spcBef>
                <a:spcPts val="1000"/>
              </a:spcBef>
              <a:buNone/>
            </a:pPr>
            <a:r>
              <a:rPr b="1" sz="2200">
                <a:solidFill>
                  <a:srgbClr val="5583D1"/>
                </a:solidFill>
                <a:latin typeface="Calibri"/>
              </a:rPr>
              <a:t>Homography Calibration</a:t>
            </a:r>
          </a:p>
          <a:p>
            <a:pPr>
              <a:spcBef>
                <a:spcPts val="600"/>
              </a:spcBef>
            </a:pPr>
            <a:r>
              <a:rPr b="0" sz="2000">
                <a:solidFill>
                  <a:srgbClr val="1F3864"/>
                </a:solidFill>
                <a:latin typeface="Calibri"/>
              </a:rPr>
              <a:t>The supervisor marks 4 or more ground points with known positions in metres.</a:t>
            </a:r>
          </a:p>
          <a:p>
            <a:pPr>
              <a:spcBef>
                <a:spcPts val="600"/>
              </a:spcBef>
            </a:pPr>
            <a:r>
              <a:rPr b="0" sz="2000">
                <a:solidFill>
                  <a:srgbClr val="1F3864"/>
                </a:solidFill>
                <a:latin typeface="Calibri"/>
              </a:rPr>
              <a:t>A homography H maps image pixels to the ground plane (X, Z).</a:t>
            </a:r>
          </a:p>
          <a:p>
            <a:pPr>
              <a:spcBef>
                <a:spcPts val="600"/>
              </a:spcBef>
            </a:pPr>
            <a:r>
              <a:rPr b="0" sz="2000">
                <a:solidFill>
                  <a:srgbClr val="1F3864"/>
                </a:solidFill>
                <a:latin typeface="Calibri"/>
              </a:rPr>
              <a:t>Reprojection error in metres checks the calibration.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2 – Tracking &amp; Ground-Plane Mapping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SafeZone Proximity Alert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Ground Distance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A worker is reduced to a foot point and a machine to a </a:t>
            </a:r>
            <a:r>
              <a:rPr b="1" sz="2100">
                <a:solidFill>
                  <a:srgbClr val="1F3864"/>
                </a:solidFill>
                <a:latin typeface="Calibri"/>
              </a:rPr>
              <a:t>ground footprint polygon</a:t>
            </a:r>
            <a:r>
              <a:rPr b="0" sz="2100">
                <a:solidFill>
                  <a:srgbClr val="1F3864"/>
                </a:solidFill>
                <a:latin typeface="Calibri"/>
              </a:rPr>
              <a:t>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Distance = foot point to footprint, in metres, after mapping through H.</a:t>
            </a:r>
          </a:p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Machine Motion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A machine is moving if its footprint speed exceeds 0.5 m/s.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A box-shape change (IoU below 0.8 over 1.5 s) catches arm and bucket swings.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A 0.5 s vote and a 1 s hold stop single noisy frames from flipping the state.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3 – Distance &amp; Motion Estimation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SafeZone Proximity Alert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Time-to-Contact (TTC)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Closing speed is the least-squares slope of pair distance over the last 1.5 s.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TTC = distance / closing speed, computed for every worker-machine pair.</a:t>
            </a:r>
          </a:p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Alert Levels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Moving machine: Danger if distance &lt; 5 m or TTC &lt; 2 s; Warning if &lt; 10 m or TTC &lt; 5 s.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Each worker is labelled </a:t>
            </a:r>
            <a:r>
              <a:rPr b="1" sz="2100">
                <a:solidFill>
                  <a:srgbClr val="1F3864"/>
                </a:solidFill>
                <a:latin typeface="Calibri"/>
              </a:rPr>
              <a:t>Safe, Warning or Danger</a:t>
            </a:r>
            <a:r>
              <a:rPr b="0" sz="2100">
                <a:solidFill>
                  <a:srgbClr val="1F3864"/>
                </a:solidFill>
                <a:latin typeface="Calibri"/>
              </a:rPr>
              <a:t> on every frame.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An idle machine within 5 m raises a Warning; all thresholds are editable.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4 – Time-to-Contact &amp; Alert Rules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SafeZone Proximity Alert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Near-Miss Logging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Each Warning or Danger period becomes one event in a </a:t>
            </a:r>
            <a:r>
              <a:rPr b="1" sz="2100">
                <a:solidFill>
                  <a:srgbClr val="1F3864"/>
                </a:solidFill>
                <a:latin typeface="Calibri"/>
              </a:rPr>
              <a:t>SQLite log</a:t>
            </a:r>
            <a:r>
              <a:rPr b="0" sz="2100">
                <a:solidFill>
                  <a:srgbClr val="1F3864"/>
                </a:solidFill>
                <a:latin typeface="Calibri"/>
              </a:rPr>
              <a:t>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Events store closest distance, lowest TTC, machine state and a snapshot.</a:t>
            </a:r>
          </a:p>
          <a:p>
            <a:pPr marL="0" indent="0">
              <a:spcBef>
                <a:spcPts val="1000"/>
              </a:spcBef>
              <a:buNone/>
            </a:pPr>
            <a:r>
              <a:rPr b="1" sz="2300">
                <a:solidFill>
                  <a:srgbClr val="5583D1"/>
                </a:solidFill>
                <a:latin typeface="Calibri"/>
              </a:rPr>
              <a:t>Streamlit Dashboard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Live monitor with danger zones, alert banner and a top-down ground-plane map.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Calibration, event log, analytics charts and settings pages.</a:t>
            </a:r>
          </a:p>
          <a:p>
            <a:pPr>
              <a:spcBef>
                <a:spcPts val="600"/>
              </a:spcBef>
            </a:pPr>
            <a:r>
              <a:rPr b="0" sz="2100">
                <a:solidFill>
                  <a:srgbClr val="1F3864"/>
                </a:solidFill>
                <a:latin typeface="Calibri"/>
              </a:rPr>
              <a:t>PDF safety reports and an audible alarm on Danger.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5 – Event Logging &amp; Dashboard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SafeZone Proximity Alert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SafeZone Proximity Alert System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00000" y="1400000"/>
            <a:ext cx="5650000" cy="395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0000" y="1500000"/>
            <a:ext cx="5350000" cy="45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1" sz="2000">
                <a:solidFill>
                  <a:srgbClr val="1C4D98"/>
                </a:solidFill>
                <a:latin typeface="Calibri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1960000"/>
            <a:ext cx="5350000" cy="331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0" sz="1700">
                <a:solidFill>
                  <a:srgbClr val="1F3864"/>
                </a:solidFill>
                <a:latin typeface="Calibri"/>
              </a:rPr>
              <a:t>Struck-by accidents with excavators, loaders and trucks injure workers on construction sites.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0" sz="1700">
                <a:solidFill>
                  <a:srgbClr val="1F3864"/>
                </a:solidFill>
                <a:latin typeface="Calibri"/>
              </a:rPr>
              <a:t>Operators have blind spots, and supervisors cannot watch every camera feed.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0" sz="1700">
                <a:solidFill>
                  <a:srgbClr val="1F3864"/>
                </a:solidFill>
                <a:latin typeface="Calibri"/>
              </a:rPr>
              <a:t>Pixel distance in a camera image is distorted by perspective, so far-apart pairs can look close.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0" sz="1700">
                <a:solidFill>
                  <a:srgbClr val="1F3864"/>
                </a:solidFill>
                <a:latin typeface="Calibri"/>
              </a:rPr>
              <a:t>Close calls are rarely recorded, so sites lack data to fix unsafe zones.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0000" y="1400000"/>
            <a:ext cx="5650000" cy="3950000"/>
          </a:xfrm>
          <a:prstGeom prst="roundRect">
            <a:avLst>
              <a:gd name="adj" fmla="val 8000"/>
            </a:avLst>
          </a:prstGeom>
          <a:solidFill>
            <a:srgbClr val="E6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90000" y="1500000"/>
            <a:ext cx="5350000" cy="45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1" sz="2000">
                <a:solidFill>
                  <a:srgbClr val="2E9CA6"/>
                </a:solidFill>
                <a:latin typeface="Calibri"/>
              </a:rPr>
              <a:t>What this project addresses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0000" y="1960000"/>
            <a:ext cx="5350000" cy="331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0" sz="1700">
                <a:solidFill>
                  <a:srgbClr val="1F3864"/>
                </a:solidFill>
                <a:latin typeface="Calibri"/>
              </a:rPr>
              <a:t>Detect and track workers and machines in live or recorded site video.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0" sz="1700">
                <a:solidFill>
                  <a:srgbClr val="1F3864"/>
                </a:solidFill>
                <a:latin typeface="Calibri"/>
              </a:rPr>
              <a:t>Measure distance in metres on the ground plane through homography calibration.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0" sz="1700">
                <a:solidFill>
                  <a:srgbClr val="1F3864"/>
                </a:solidFill>
                <a:latin typeface="Calibri"/>
              </a:rPr>
              <a:t>Warn early using machine motion state and time-to-contact.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0" sz="1700">
                <a:solidFill>
                  <a:srgbClr val="1F3864"/>
                </a:solidFill>
                <a:latin typeface="Calibri"/>
              </a:rPr>
              <a:t>Log every near-miss with a snapshot and report trends in a dashboard.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SafeZone Proximity Alert System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00000" y="1420000"/>
            <a:ext cx="2198000" cy="29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169000" y="1540000"/>
            <a:ext cx="460000" cy="460000"/>
          </a:xfrm>
          <a:prstGeom prst="ellipse">
            <a:avLst/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000" y="2060000"/>
            <a:ext cx="2118000" cy="5600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b="1" sz="1600">
                <a:solidFill>
                  <a:srgbClr val="1C4D98"/>
                </a:solidFill>
                <a:latin typeface="Calibri"/>
              </a:rPr>
              <a:t>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000" y="2640000"/>
            <a:ext cx="2118000" cy="164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Train YOLO11n on Kaggle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Export to OpenVINO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Worker / machine boxes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08000" y="2870000"/>
            <a:ext cx="13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648000" y="1420000"/>
            <a:ext cx="2198000" cy="29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3517000" y="1540000"/>
            <a:ext cx="460000" cy="460000"/>
          </a:xfrm>
          <a:prstGeom prst="ellipse">
            <a:avLst/>
          </a:prstGeom>
          <a:solidFill>
            <a:srgbClr val="2E9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8000" y="2060000"/>
            <a:ext cx="2118000" cy="5600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b="1" sz="1600">
                <a:solidFill>
                  <a:srgbClr val="1C4D98"/>
                </a:solidFill>
                <a:latin typeface="Calibri"/>
              </a:rPr>
              <a:t>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8000" y="2640000"/>
            <a:ext cx="2118000" cy="164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ByteTrack IDs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Box smoothing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1.5 s track history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56000" y="2870000"/>
            <a:ext cx="13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996000" y="1420000"/>
            <a:ext cx="2198000" cy="29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5865000" y="1540000"/>
            <a:ext cx="460000" cy="460000"/>
          </a:xfrm>
          <a:prstGeom prst="ellipse">
            <a:avLst/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36000" y="2060000"/>
            <a:ext cx="2118000" cy="5600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b="1" sz="1600">
                <a:solidFill>
                  <a:srgbClr val="1C4D98"/>
                </a:solidFill>
                <a:latin typeface="Calibri"/>
              </a:rPr>
              <a:t>Ground Mapping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6000" y="2640000"/>
            <a:ext cx="2118000" cy="164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4-point calibration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Homography H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Pixels to metres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04000" y="2870000"/>
            <a:ext cx="13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44000" y="1420000"/>
            <a:ext cx="2198000" cy="29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8213000" y="1540000"/>
            <a:ext cx="460000" cy="460000"/>
          </a:xfrm>
          <a:prstGeom prst="ellipse">
            <a:avLst/>
          </a:prstGeom>
          <a:solidFill>
            <a:srgbClr val="2E9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4000" y="2060000"/>
            <a:ext cx="2118000" cy="5600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b="1" sz="1600">
                <a:solidFill>
                  <a:srgbClr val="1C4D98"/>
                </a:solidFill>
                <a:latin typeface="Calibri"/>
              </a:rPr>
              <a:t>Risk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4000" y="2640000"/>
            <a:ext cx="2118000" cy="164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Footprint distance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Motion state + TTC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Safe / Warning / Danger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552000" y="2870000"/>
            <a:ext cx="13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92000" y="1420000"/>
            <a:ext cx="2198000" cy="29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10561000" y="1540000"/>
            <a:ext cx="460000" cy="460000"/>
          </a:xfrm>
          <a:prstGeom prst="ellipse">
            <a:avLst/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2000" y="2060000"/>
            <a:ext cx="2118000" cy="5600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b="1" sz="1600">
                <a:solidFill>
                  <a:srgbClr val="1C4D98"/>
                </a:solidFill>
                <a:latin typeface="Calibri"/>
              </a:rPr>
              <a:t>Alerts &amp;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2000" y="2640000"/>
            <a:ext cx="2118000" cy="164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Near-miss log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Banner + alarm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Streamlit dashboard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0000" y="4500000"/>
            <a:ext cx="11590000" cy="820000"/>
          </a:xfrm>
          <a:prstGeom prst="roundRect">
            <a:avLst>
              <a:gd name="adj" fmla="val 8000"/>
            </a:avLst>
          </a:prstGeom>
          <a:solidFill>
            <a:srgbClr val="E6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/>
            <a:r>
              <a:rPr b="1" sz="1600">
                <a:solidFill>
                  <a:srgbClr val="1F3864"/>
                </a:solidFill>
                <a:latin typeface="Calibri"/>
              </a:rPr>
              <a:t>Evaluation plan:  </a:t>
            </a:r>
            <a:r>
              <a:rPr b="0" sz="1600">
                <a:solidFill>
                  <a:srgbClr val="1F3864"/>
                </a:solidFill>
                <a:latin typeface="Calibri"/>
              </a:rPr>
              <a:t>detector mAP@0.5 → alert precision, recall and lead time on labelled videos → ablation of homography vs pixel distance, with and without TTC → FPS on an Intel i7 laptop CPU.</a:t>
            </a:r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SafeZone Proximity Alert System</a:t>
            </a:r>
          </a:p>
          <a:p>
            <a:pPr algn="r"/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0000" y="1400000"/>
          <a:ext cx="11590000" cy="40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0000"/>
                <a:gridCol w="5300000"/>
                <a:gridCol w="3390000"/>
              </a:tblGrid>
              <a:tr h="450000"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  <a:latin typeface="Calibri"/>
                        </a:rPr>
                        <a:t>Algorithm / Technique</a:t>
                      </a:r>
                    </a:p>
                  </a:txBody>
                  <a:tcPr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  <a:latin typeface="Calibri"/>
                        </a:rPr>
                        <a:t>Tools</a:t>
                      </a:r>
                    </a:p>
                  </a:txBody>
                  <a:tcPr>
                    <a:solidFill>
                      <a:srgbClr val="1C4D98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Detection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YOLO11n fine-tuned on construction images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Ultralytics, PyTorch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Tracking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ByteTrack multi-object tracking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Ultralytics, lap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Ground mapping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Homography from 4+ point pairs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OpenCV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Risk engine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Footprint distance, motion vote, TTC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NumPy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CPU inference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Model export for Intel CPUs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OpenVINO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Event storage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Near-miss episodes with snapshots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SQLite, Pandas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Training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GPU training in a cloud notebook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Kaggle (T4 GPU)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Dashboard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Live monitor, analytics, PDF report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Streamlit, Plotly, fpdf2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</a:rPr>
              <a:t>Findings and Results – Alert Ablation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SafeZone Proximity Alert System</a:t>
            </a:r>
          </a:p>
          <a:p>
            <a:pPr algn="r"/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0000" y="1400000"/>
          <a:ext cx="11590000" cy="22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90000"/>
                <a:gridCol w="2100000"/>
                <a:gridCol w="2100000"/>
                <a:gridCol w="2400000"/>
              </a:tblGrid>
              <a:tr h="450000"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  <a:latin typeface="Calibri"/>
                        </a:rPr>
                        <a:t>Event precision</a:t>
                      </a:r>
                    </a:p>
                  </a:txBody>
                  <a:tcPr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  <a:latin typeface="Calibri"/>
                        </a:rPr>
                        <a:t>Event recall</a:t>
                      </a:r>
                    </a:p>
                  </a:txBody>
                  <a:tcPr>
                    <a:solidFill>
                      <a:srgbClr val="1C4D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  <a:latin typeface="Calibri"/>
                        </a:rPr>
                        <a:t>Time precision</a:t>
                      </a:r>
                    </a:p>
                  </a:txBody>
                  <a:tcPr>
                    <a:solidFill>
                      <a:srgbClr val="1C4D98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Homography + TTC (SafeZone)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0.966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0.972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0.708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Homography, no TTC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0.966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0.972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0.711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Pixel distance + TTC</a:t>
                      </a:r>
                    </a:p>
                  </a:txBody>
                  <a:tcPr marT="45000" marB="45000" anchor="ctr"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0.966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0.917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0.357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1F3864"/>
                          </a:solidFill>
                          <a:latin typeface="Calibri"/>
                        </a:rPr>
                        <a:t>Pixel distance, no TTC (baseline)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0.966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0.917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600">
                          <a:solidFill>
                            <a:srgbClr val="1F3864"/>
                          </a:solidFill>
                          <a:latin typeface="Calibri"/>
                        </a:rPr>
                        <a:t>0.357</a:t>
                      </a:r>
                    </a:p>
                  </a:txBody>
                  <a:tcPr marT="45000" marB="4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00000" y="3850000"/>
            <a:ext cx="11590000" cy="70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595959"/>
                </a:solidFill>
                <a:latin typeface="Calibri"/>
              </a:rPr>
              <a:t>Built-in site simulator, 180 s, 36 true near-misses. Speed on i7-10510U CPU: 13.7 FPS at 640 px, 18.5 FPS at 512 px (PyTorch). Detector mAP@0.5 and real-video results to be added.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</a:rPr>
              <a:t>Findings and Results – System Output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SafeZone Proximity Alert System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00000" y="1420000"/>
            <a:ext cx="2198000" cy="29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169000" y="1540000"/>
            <a:ext cx="460000" cy="460000"/>
          </a:xfrm>
          <a:prstGeom prst="ellipse">
            <a:avLst/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000" y="2060000"/>
            <a:ext cx="2118000" cy="5600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b="1" sz="1600">
                <a:solidFill>
                  <a:srgbClr val="1C4D98"/>
                </a:solidFill>
                <a:latin typeface="Calibri"/>
              </a:rPr>
              <a:t>Video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000" y="2640000"/>
            <a:ext cx="2118000" cy="164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CCTV, RTSP stream or video file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08000" y="2870000"/>
            <a:ext cx="13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648000" y="1420000"/>
            <a:ext cx="2198000" cy="29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3517000" y="1540000"/>
            <a:ext cx="460000" cy="460000"/>
          </a:xfrm>
          <a:prstGeom prst="ellipse">
            <a:avLst/>
          </a:prstGeom>
          <a:solidFill>
            <a:srgbClr val="2E9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8000" y="2060000"/>
            <a:ext cx="2118000" cy="5600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b="1" sz="1600">
                <a:solidFill>
                  <a:srgbClr val="1C4D98"/>
                </a:solidFill>
                <a:latin typeface="Calibri"/>
              </a:rPr>
              <a:t>Detect &amp;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8000" y="2640000"/>
            <a:ext cx="2118000" cy="164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Worker / machine boxes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Stable track IDs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56000" y="2870000"/>
            <a:ext cx="13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996000" y="1420000"/>
            <a:ext cx="2198000" cy="29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5865000" y="1540000"/>
            <a:ext cx="460000" cy="460000"/>
          </a:xfrm>
          <a:prstGeom prst="ellipse">
            <a:avLst/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36000" y="2060000"/>
            <a:ext cx="2118000" cy="5600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b="1" sz="1600">
                <a:solidFill>
                  <a:srgbClr val="1C4D98"/>
                </a:solidFill>
                <a:latin typeface="Calibri"/>
              </a:rPr>
              <a:t>Ground Mapping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6000" y="2640000"/>
            <a:ext cx="2118000" cy="164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Pixels to metres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Top-down site map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04000" y="2870000"/>
            <a:ext cx="13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44000" y="1420000"/>
            <a:ext cx="2198000" cy="29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8213000" y="1540000"/>
            <a:ext cx="460000" cy="460000"/>
          </a:xfrm>
          <a:prstGeom prst="ellipse">
            <a:avLst/>
          </a:prstGeom>
          <a:solidFill>
            <a:srgbClr val="2E9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4000" y="2060000"/>
            <a:ext cx="2118000" cy="5600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b="1" sz="1600">
                <a:solidFill>
                  <a:srgbClr val="1C4D98"/>
                </a:solidFill>
                <a:latin typeface="Calibri"/>
              </a:rPr>
              <a:t>Risk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4000" y="2640000"/>
            <a:ext cx="2118000" cy="164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Distance, motion state and TTC per pair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552000" y="2870000"/>
            <a:ext cx="130000" cy="0"/>
          </a:xfrm>
          <a:prstGeom prst="line">
            <a:avLst/>
          </a:prstGeom>
          <a:ln w="25400">
            <a:solidFill>
              <a:srgbClr val="1C4D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92000" y="1420000"/>
            <a:ext cx="2198000" cy="29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10561000" y="1540000"/>
            <a:ext cx="460000" cy="460000"/>
          </a:xfrm>
          <a:prstGeom prst="ellipse">
            <a:avLst/>
          </a:prstGeom>
          <a:solidFill>
            <a:srgbClr val="1C4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2000" y="2060000"/>
            <a:ext cx="2118000" cy="5600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b="1" sz="1600">
                <a:solidFill>
                  <a:srgbClr val="1C4D98"/>
                </a:solidFill>
                <a:latin typeface="Calibri"/>
              </a:rPr>
              <a:t>Alert &amp; 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2000" y="2640000"/>
            <a:ext cx="2118000" cy="164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Danger banner + alarm</a:t>
            </a:r>
          </a:p>
          <a:p>
            <a:pPr algn="l"/>
            <a:r>
              <a:rPr b="0" sz="1400">
                <a:solidFill>
                  <a:srgbClr val="1F3864"/>
                </a:solidFill>
                <a:latin typeface="Calibri"/>
              </a:rPr>
              <a:t>Near-miss saved with snapshot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0000" y="4500000"/>
            <a:ext cx="11590000" cy="820000"/>
          </a:xfrm>
          <a:prstGeom prst="roundRect">
            <a:avLst>
              <a:gd name="adj" fmla="val 8000"/>
            </a:avLst>
          </a:prstGeom>
          <a:solidFill>
            <a:srgbClr val="E6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/>
            <a:r>
              <a:rPr b="1" sz="1600">
                <a:solidFill>
                  <a:srgbClr val="1F3864"/>
                </a:solidFill>
                <a:latin typeface="Calibri"/>
              </a:rPr>
              <a:t>Output per frame:  </a:t>
            </a:r>
            <a:r>
              <a:rPr b="0" sz="1600">
                <a:solidFill>
                  <a:srgbClr val="1F3864"/>
                </a:solidFill>
                <a:latin typeface="Calibri"/>
              </a:rPr>
              <a:t>boxes, ground distance in metres, TTC and alert level per worker; each near-miss is logged and reported in the Streamlit dashboard.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2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SafeZone Proximity Alert System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00000" y="1400000"/>
            <a:ext cx="5650000" cy="395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0000" y="1500000"/>
            <a:ext cx="5350000" cy="45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1" sz="2000">
                <a:solidFill>
                  <a:srgbClr val="1C4D98"/>
                </a:solidFill>
                <a:latin typeface="Calibri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1960000"/>
            <a:ext cx="5350000" cy="331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0" sz="1700">
                <a:solidFill>
                  <a:srgbClr val="1F3864"/>
                </a:solidFill>
                <a:latin typeface="Calibri"/>
              </a:rPr>
              <a:t>SafeZone turns a fixed site camera into a real-time worker-machinery proximity monitor.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0" sz="1700">
                <a:solidFill>
                  <a:srgbClr val="1F3864"/>
                </a:solidFill>
                <a:latin typeface="Calibri"/>
              </a:rPr>
              <a:t>Homography mapping measures distance in metres and removes the perspective error of pixel distance.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0" sz="1700">
                <a:solidFill>
                  <a:srgbClr val="1F3864"/>
                </a:solidFill>
                <a:latin typeface="Calibri"/>
              </a:rPr>
              <a:t>Machine motion state and time-to-contact let alerts fire before a worker enters the danger zone.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0" sz="1700">
                <a:solidFill>
                  <a:srgbClr val="1F3864"/>
                </a:solidFill>
                <a:latin typeface="Calibri"/>
              </a:rPr>
              <a:t>Every near-miss is logged with a snapshot for review and safety reports.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0000" y="1400000"/>
            <a:ext cx="5650000" cy="3950000"/>
          </a:xfrm>
          <a:prstGeom prst="roundRect">
            <a:avLst>
              <a:gd name="adj" fmla="val 8000"/>
            </a:avLst>
          </a:prstGeom>
          <a:solidFill>
            <a:srgbClr val="E6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90000" y="1500000"/>
            <a:ext cx="5350000" cy="45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b="1" sz="2000">
                <a:solidFill>
                  <a:srgbClr val="2E9CA6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0000" y="1960000"/>
            <a:ext cx="5350000" cy="33100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0" sz="1700">
                <a:solidFill>
                  <a:srgbClr val="1F3864"/>
                </a:solidFill>
                <a:latin typeface="Calibri"/>
              </a:rPr>
              <a:t>The ground is assumed flat, and each camera position needs its own calibration.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0" sz="1700">
                <a:solidFill>
                  <a:srgbClr val="1F3864"/>
                </a:solidFill>
                <a:latin typeface="Calibri"/>
              </a:rPr>
              <a:t>Workers hidden behind machines are missed; the current dataset labels all machines as one class.</a:t>
            </a:r>
          </a:p>
          <a:p>
            <a:pPr marL="228600" indent="-228600">
              <a:spcBef>
                <a:spcPts val="500"/>
              </a:spcBef>
              <a:buClr>
                <a:srgbClr val="1C4D98"/>
              </a:buClr>
              <a:buFont typeface="Arial"/>
              <a:buChar char="•"/>
            </a:pPr>
            <a:r>
              <a:rPr b="0" sz="1700">
                <a:solidFill>
                  <a:srgbClr val="1F3864"/>
                </a:solidFill>
                <a:latin typeface="Calibri"/>
              </a:rPr>
              <a:t>Future work: MOCS training for machine types, multi-camera fusion and field trials on a live site.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 marL="0" indent="0">
              <a:spcBef>
                <a:spcPts val="1400"/>
              </a:spcBef>
              <a:buNone/>
            </a:pPr>
            <a:r>
              <a:rPr b="0" sz="2100">
                <a:solidFill>
                  <a:srgbClr val="1F3864"/>
                </a:solidFill>
                <a:latin typeface="Calibri"/>
              </a:rPr>
              <a:t>I thank the </a:t>
            </a:r>
            <a:r>
              <a:rPr b="1" sz="2100">
                <a:solidFill>
                  <a:srgbClr val="1F3864"/>
                </a:solidFill>
                <a:latin typeface="Calibri"/>
              </a:rPr>
              <a:t>management and Principal of Rajalakshmi Engineering College</a:t>
            </a:r>
            <a:r>
              <a:rPr b="0" sz="2100">
                <a:solidFill>
                  <a:srgbClr val="1F3864"/>
                </a:solidFill>
                <a:latin typeface="Calibri"/>
              </a:rPr>
              <a:t> for the facilities and support provided for this project.</a:t>
            </a:r>
          </a:p>
          <a:p>
            <a:pPr marL="0" indent="0">
              <a:spcBef>
                <a:spcPts val="1400"/>
              </a:spcBef>
              <a:buNone/>
            </a:pPr>
            <a:r>
              <a:rPr b="0" sz="2100">
                <a:solidFill>
                  <a:srgbClr val="1F3864"/>
                </a:solidFill>
                <a:latin typeface="Calibri"/>
              </a:rPr>
              <a:t>I thank </a:t>
            </a:r>
            <a:r>
              <a:rPr b="1" sz="2100">
                <a:solidFill>
                  <a:srgbClr val="1F3864"/>
                </a:solidFill>
                <a:latin typeface="Calibri"/>
              </a:rPr>
              <a:t>LTIMindtree</a:t>
            </a:r>
            <a:r>
              <a:rPr b="0" sz="2100">
                <a:solidFill>
                  <a:srgbClr val="1F3864"/>
                </a:solidFill>
                <a:latin typeface="Calibri"/>
              </a:rPr>
              <a:t> (knowledge partner) and </a:t>
            </a:r>
            <a:r>
              <a:rPr b="1" sz="2100">
                <a:solidFill>
                  <a:srgbClr val="1F3864"/>
                </a:solidFill>
                <a:latin typeface="Calibri"/>
              </a:rPr>
              <a:t>L&amp;T EduTech</a:t>
            </a:r>
            <a:r>
              <a:rPr b="0" sz="2100">
                <a:solidFill>
                  <a:srgbClr val="1F3864"/>
                </a:solidFill>
                <a:latin typeface="Calibri"/>
              </a:rPr>
              <a:t> (implementation partner) for the Advanced Industry Integrated Programme and its industry inputs.</a:t>
            </a:r>
          </a:p>
          <a:p>
            <a:pPr marL="0" indent="0">
              <a:spcBef>
                <a:spcPts val="1400"/>
              </a:spcBef>
              <a:buNone/>
            </a:pPr>
            <a:r>
              <a:rPr b="0" sz="2100">
                <a:solidFill>
                  <a:srgbClr val="1F3864"/>
                </a:solidFill>
                <a:latin typeface="Calibri"/>
              </a:rPr>
              <a:t>I thank my </a:t>
            </a:r>
            <a:r>
              <a:rPr b="1" sz="2100">
                <a:solidFill>
                  <a:srgbClr val="1F3864"/>
                </a:solidFill>
                <a:latin typeface="Calibri"/>
              </a:rPr>
              <a:t>project guide and the review panel members</a:t>
            </a:r>
            <a:r>
              <a:rPr b="0" sz="2100">
                <a:solidFill>
                  <a:srgbClr val="1F3864"/>
                </a:solidFill>
                <a:latin typeface="Calibri"/>
              </a:rPr>
              <a:t> for their direction and feedback across Reviews I, II and III.</a:t>
            </a:r>
          </a:p>
          <a:p>
            <a:pPr marL="0" indent="0">
              <a:spcBef>
                <a:spcPts val="1400"/>
              </a:spcBef>
              <a:buNone/>
            </a:pPr>
            <a:r>
              <a:rPr b="0" sz="2100">
                <a:solidFill>
                  <a:srgbClr val="1F3864"/>
                </a:solidFill>
                <a:latin typeface="Calibri"/>
              </a:rPr>
              <a:t>I thank my family and classmates for their encouragement throughout the project.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2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SafeZone Proximity Alert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30000"/>
            <a:ext cx="11500000" cy="4300000"/>
          </a:xfrm>
        </p:spPr>
        <p:txBody>
          <a:bodyPr wrap="square"/>
          <a:lstStyle/>
          <a:p>
            <a:pPr marL="457200" indent="-457200">
              <a:spcBef>
                <a:spcPts val="600"/>
              </a:spcBef>
              <a:buNone/>
            </a:pPr>
            <a:r>
              <a:rPr b="0" sz="1600">
                <a:solidFill>
                  <a:srgbClr val="1F3864"/>
                </a:solidFill>
                <a:latin typeface="Calibri"/>
              </a:rPr>
              <a:t>[1] X. An, L. Zhou, Z. Liu, C. Wang, P. Li and Z. Li, "Dataset and benchmark for detecting moving objects in construction sites," Automation in Construction, vol. 122, 103482, 2021.</a:t>
            </a:r>
          </a:p>
          <a:p>
            <a:pPr marL="457200" indent="-457200">
              <a:spcBef>
                <a:spcPts val="600"/>
              </a:spcBef>
              <a:buNone/>
            </a:pPr>
            <a:r>
              <a:rPr b="0" sz="1600">
                <a:solidFill>
                  <a:srgbClr val="1F3864"/>
                </a:solidFill>
                <a:latin typeface="Calibri"/>
              </a:rPr>
              <a:t>[2] Y. Zhang et al., "ByteTrack: Multi-object tracking by associating every detection box," Proc. ECCV, 2022.</a:t>
            </a:r>
          </a:p>
          <a:p>
            <a:pPr marL="457200" indent="-457200">
              <a:spcBef>
                <a:spcPts val="600"/>
              </a:spcBef>
              <a:buNone/>
            </a:pPr>
            <a:r>
              <a:rPr b="0" sz="1600">
                <a:solidFill>
                  <a:srgbClr val="1F3864"/>
                </a:solidFill>
                <a:latin typeface="Calibri"/>
              </a:rPr>
              <a:t>[3] H. Son, H. Seong, H. Choi and C. Kim, "Real-time vision-based warning system for prevention of collisions between workers and heavy equipment," Journal of Computing in Civil Engineering, vol. 33, no. 5, 2019.</a:t>
            </a:r>
          </a:p>
          <a:p>
            <a:pPr marL="457200" indent="-457200">
              <a:spcBef>
                <a:spcPts val="600"/>
              </a:spcBef>
              <a:buNone/>
            </a:pPr>
            <a:r>
              <a:rPr b="0" sz="1600">
                <a:solidFill>
                  <a:srgbClr val="1F3864"/>
                </a:solidFill>
                <a:latin typeface="Calibri"/>
              </a:rPr>
              <a:t>[4] H. Kim, K. Kim and H. Kim, "Vision-based object-centric safety assessment using fuzzy inference: Monitoring struck-by accidents with moving objects," Journal of Computing in Civil Engineering, vol. 30, no. 4, 2016.</a:t>
            </a:r>
          </a:p>
          <a:p>
            <a:pPr marL="457200" indent="-457200">
              <a:spcBef>
                <a:spcPts val="600"/>
              </a:spcBef>
              <a:buNone/>
            </a:pPr>
            <a:r>
              <a:rPr b="0" sz="1600">
                <a:solidFill>
                  <a:srgbClr val="1F3864"/>
                </a:solidFill>
                <a:latin typeface="Calibri"/>
              </a:rPr>
              <a:t>[5] R. Hartley and A. Zisserman, Multiple View Geometry in Computer Vision, 2nd ed., Cambridge University Press, 2004.</a:t>
            </a:r>
          </a:p>
          <a:p>
            <a:pPr marL="457200" indent="-457200">
              <a:spcBef>
                <a:spcPts val="600"/>
              </a:spcBef>
              <a:buNone/>
            </a:pPr>
            <a:r>
              <a:rPr b="0" sz="1600">
                <a:solidFill>
                  <a:srgbClr val="1F3864"/>
                </a:solidFill>
                <a:latin typeface="Calibri"/>
              </a:rPr>
              <a:t>[6] G. Jocher and J. Qiu, "Ultralytics YOLO11," 2024. Available: github.com/ultralytics/ultralytics</a:t>
            </a:r>
          </a:p>
          <a:p>
            <a:pPr marL="457200" indent="-457200">
              <a:spcBef>
                <a:spcPts val="600"/>
              </a:spcBef>
              <a:buNone/>
            </a:pPr>
            <a:r>
              <a:rPr b="0" sz="1600">
                <a:solidFill>
                  <a:srgbClr val="1F3864"/>
                </a:solidFill>
                <a:latin typeface="Calibri"/>
              </a:rPr>
              <a:t>[7] S. Sanyal, "Construction Site Safety Image Dataset (Roboflow)," Kaggle dataset.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200" b="1" dirty="0">
                <a:solidFill>
                  <a:srgbClr val="5B9BD5">
                    <a:lumMod val="50000"/>
                  </a:srgbClr>
                </a:solidFill>
              </a:rPr>
              <a:t>References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3200000" y="57036"/>
            <a:ext cx="89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b="1" sz="1400" i="1">
                <a:solidFill>
                  <a:srgbClr val="FFFFFF"/>
                </a:solidFill>
              </a:rPr>
              <a:t>SafeZone Proximity Alert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205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HARI PRASATH</cp:lastModifiedBy>
  <cp:revision>14</cp:revision>
  <dcterms:created xsi:type="dcterms:W3CDTF">2024-05-13T10:33:11Z</dcterms:created>
  <dcterms:modified xsi:type="dcterms:W3CDTF">2025-10-06T09:41:15Z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