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18"/>
    <p:sldId id="2147470503" r:id="rId17"/>
    <p:sldId id="2147470502" r:id="rId16"/>
    <p:sldId id="2147470501" r:id="rId15"/>
    <p:sldId id="2147470494" r:id="rId6"/>
    <p:sldId id="2147470497" r:id="rId7"/>
    <p:sldId id="2147470498" r:id="rId8"/>
    <p:sldId id="2147470500" r:id="rId9"/>
    <p:sldId id="2147470499" r:id="rId10"/>
    <p:sldId id="2147470505" r:id="rId19"/>
    <p:sldId id="2147470506" r:id="rId20"/>
    <p:sldId id="2147470507" r:id="rId21"/>
    <p:sldId id="2147470508" r:id="rId22"/>
    <p:sldId id="2147470509" r:id="rId23"/>
    <p:sldId id="2147470510" r:id="rId24"/>
    <p:sldId id="2147470511" r:id="rId25"/>
    <p:sldId id="2147470512" r:id="rId26"/>
    <p:sldId id="2147470513" r:id="rId27"/>
    <p:sldId id="2147470514" r:id="rId28"/>
    <p:sldId id="2147470515" r:id="rId29"/>
    <p:sldId id="2147470516" r:id="rId30"/>
    <p:sldId id="214747051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560000"/>
            <a:ext cx="11428184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3200">
                <a:solidFill>
                  <a:srgbClr val="FFFFFF"/>
                </a:solidFill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2400">
                <a:solidFill>
                  <a:srgbClr val="FFFFFF"/>
                </a:solidFill>
              </a:rPr>
              <a:t>Project Title</a:t>
            </a:r>
          </a:p>
          <a:p>
            <a:pPr lvl="0" algn="ctr">
              <a:defRPr/>
            </a:pPr>
            <a:r>
              <a:rPr b="1" sz="2600">
                <a:solidFill>
                  <a:srgbClr val="FFFFFF"/>
                </a:solidFill>
              </a:rPr>
              <a:t>Risk- and Cost-Aware AI Maintenance Decision Engine for Industrial Power Assets Using Vibration-Based Fault Diagnosis</a:t>
            </a:r>
          </a:p>
          <a:p>
            <a:pPr lvl="0" algn="ctr">
              <a:defRPr/>
            </a:pPr>
            <a:r>
              <a:rPr b="0" sz="1000">
                <a:solidFill>
                  <a:srgbClr val="FFFFFF"/>
                </a:solidFill>
              </a:rPr>
              <a:t/>
            </a:r>
          </a:p>
          <a:p>
            <a:pPr lvl="0" algn="ctr">
              <a:defRPr/>
            </a:pPr>
            <a:r>
              <a:rPr b="1" sz="1800">
                <a:solidFill>
                  <a:srgbClr val="FFFFFF"/>
                </a:solidFill>
              </a:rPr>
              <a:t>Team Member</a:t>
            </a:r>
          </a:p>
          <a:p>
            <a:pPr algn="ctr">
              <a:defRPr/>
            </a:pPr>
            <a:r>
              <a:rPr b="1" sz="2200">
                <a:solidFill>
                  <a:srgbClr val="FFFFFF"/>
                </a:solidFill>
              </a:rPr>
              <a:t>SUBASH M  |  T9970</a:t>
            </a:r>
          </a:p>
          <a:p>
            <a:pPr lvl="0" algn="ctr">
              <a:defRPr/>
            </a:pPr>
            <a:r>
              <a:rPr b="1" sz="1600">
                <a:solidFill>
                  <a:srgbClr val="FFFFFF"/>
                </a:solidFill>
              </a:rPr>
              <a:t>RAJALAKSHMI ENGINEERING COLLEGE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Unplanned failures of </a:t>
            </a:r>
            <a:r>
              <a:rPr b="1" sz="2200">
                <a:solidFill>
                  <a:srgbClr val="1F3864"/>
                </a:solidFill>
                <a:latin typeface="Calibri"/>
              </a:rPr>
              <a:t>motors, pumps and generators</a:t>
            </a:r>
            <a:r>
              <a:rPr b="0" sz="2200">
                <a:solidFill>
                  <a:srgbClr val="1F3864"/>
                </a:solidFill>
                <a:latin typeface="Calibri"/>
              </a:rPr>
              <a:t> cause downtime, safety hazards and high repair costs; bearing faults are a leading cause.</a:t>
            </a:r>
          </a:p>
          <a:p>
            <a:pPr>
              <a:spcBef>
                <a:spcPts val="600"/>
              </a:spcBef>
            </a:pPr>
            <a:r>
              <a:rPr b="1" sz="2200">
                <a:solidFill>
                  <a:srgbClr val="1F3864"/>
                </a:solidFill>
                <a:latin typeface="Calibri"/>
              </a:rPr>
              <a:t>Vibration signals</a:t>
            </a:r>
            <a:r>
              <a:rPr b="0" sz="2200">
                <a:solidFill>
                  <a:srgbClr val="1F3864"/>
                </a:solidFill>
                <a:latin typeface="Calibri"/>
              </a:rPr>
              <a:t> carry fault signatures that AI can classify as </a:t>
            </a:r>
            <a:r>
              <a:rPr b="1" sz="2200">
                <a:solidFill>
                  <a:srgbClr val="1F3864"/>
                </a:solidFill>
                <a:latin typeface="Calibri"/>
              </a:rPr>
              <a:t>Normal, Ball, Inner-Race or Outer-Race</a:t>
            </a:r>
            <a:r>
              <a:rPr b="0" sz="2200">
                <a:solidFill>
                  <a:srgbClr val="1F3864"/>
                </a:solidFill>
                <a:latin typeface="Calibri"/>
              </a:rPr>
              <a:t> faults.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Review I established the problem, the literature gap and the </a:t>
            </a:r>
            <a:r>
              <a:rPr b="1" sz="2200">
                <a:solidFill>
                  <a:srgbClr val="1F3864"/>
                </a:solidFill>
                <a:latin typeface="Calibri"/>
              </a:rPr>
              <a:t>five-module plan</a:t>
            </a:r>
            <a:r>
              <a:rPr b="0" sz="22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Review II presents the </a:t>
            </a:r>
            <a:r>
              <a:rPr b="1" sz="2200">
                <a:solidFill>
                  <a:srgbClr val="1F3864"/>
                </a:solidFill>
                <a:latin typeface="Calibri"/>
              </a:rPr>
              <a:t>methodology, data preprocessing &amp; EDA, algorithms and tools, milestone progress</a:t>
            </a:r>
            <a:r>
              <a:rPr b="0" sz="2200">
                <a:solidFill>
                  <a:srgbClr val="1F3864"/>
                </a:solidFill>
                <a:latin typeface="Calibri"/>
              </a:rPr>
              <a:t> and the </a:t>
            </a:r>
            <a:r>
              <a:rPr b="1" sz="2200">
                <a:solidFill>
                  <a:srgbClr val="1F3864"/>
                </a:solidFill>
                <a:latin typeface="Calibri"/>
              </a:rPr>
              <a:t>end-to-end pipeline</a:t>
            </a:r>
            <a:r>
              <a:rPr b="0" sz="22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Core idea: link </a:t>
            </a:r>
            <a:r>
              <a:rPr b="1" sz="2200">
                <a:solidFill>
                  <a:srgbClr val="1F3864"/>
                </a:solidFill>
                <a:latin typeface="Calibri"/>
              </a:rPr>
              <a:t>diagnosis → risk → cost → action</a:t>
            </a:r>
            <a:r>
              <a:rPr b="0" sz="2200">
                <a:solidFill>
                  <a:srgbClr val="1F3864"/>
                </a:solidFill>
                <a:latin typeface="Calibri"/>
              </a:rPr>
              <a:t> in one framework that recommends </a:t>
            </a:r>
            <a:r>
              <a:rPr b="1" sz="2200">
                <a:solidFill>
                  <a:srgbClr val="1F3864"/>
                </a:solidFill>
                <a:latin typeface="Calibri"/>
              </a:rPr>
              <a:t>Monitor, Inspect or Repair</a:t>
            </a:r>
            <a:r>
              <a:rPr b="0" sz="2200">
                <a:solidFill>
                  <a:srgbClr val="1F3864"/>
                </a:solidFill>
                <a:latin typeface="Calibri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Build a </a:t>
            </a:r>
            <a:r>
              <a:rPr b="1" sz="2200">
                <a:solidFill>
                  <a:srgbClr val="1F3864"/>
                </a:solidFill>
                <a:latin typeface="Calibri"/>
              </a:rPr>
              <a:t>1D-CNN classifier</a:t>
            </a:r>
            <a:r>
              <a:rPr b="0" sz="2200">
                <a:solidFill>
                  <a:srgbClr val="1F3864"/>
                </a:solidFill>
                <a:latin typeface="Calibri"/>
              </a:rPr>
              <a:t> for Normal, Ball, Inner-Race and Outer-Race faults from raw vibration segments.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Benchmark it against </a:t>
            </a:r>
            <a:r>
              <a:rPr b="1" sz="2200">
                <a:solidFill>
                  <a:srgbClr val="1F3864"/>
                </a:solidFill>
                <a:latin typeface="Calibri"/>
              </a:rPr>
              <a:t>classical ML</a:t>
            </a:r>
            <a:r>
              <a:rPr b="0" sz="2200">
                <a:solidFill>
                  <a:srgbClr val="1F3864"/>
                </a:solidFill>
                <a:latin typeface="Calibri"/>
              </a:rPr>
              <a:t> trained on handcrafted time- and frequency-domain features.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Evaluate </a:t>
            </a:r>
            <a:r>
              <a:rPr b="1" sz="2200">
                <a:solidFill>
                  <a:srgbClr val="1F3864"/>
                </a:solidFill>
                <a:latin typeface="Calibri"/>
              </a:rPr>
              <a:t>C-GAN synthetic signals</a:t>
            </a:r>
            <a:r>
              <a:rPr b="0" sz="2200">
                <a:solidFill>
                  <a:srgbClr val="1F3864"/>
                </a:solidFill>
                <a:latin typeface="Calibri"/>
              </a:rPr>
              <a:t> for class balancing and data augmentation.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Compute a </a:t>
            </a:r>
            <a:r>
              <a:rPr b="1" sz="2200">
                <a:solidFill>
                  <a:srgbClr val="1F3864"/>
                </a:solidFill>
                <a:latin typeface="Calibri"/>
              </a:rPr>
              <a:t>dynamic risk score</a:t>
            </a:r>
            <a:r>
              <a:rPr b="0" sz="2200">
                <a:solidFill>
                  <a:srgbClr val="1F3864"/>
                </a:solidFill>
                <a:latin typeface="Calibri"/>
              </a:rPr>
              <a:t> from fault probability, severity, asset criticality and operating stress.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Select the </a:t>
            </a:r>
            <a:r>
              <a:rPr b="1" sz="2200">
                <a:solidFill>
                  <a:srgbClr val="1F3864"/>
                </a:solidFill>
                <a:latin typeface="Calibri"/>
              </a:rPr>
              <a:t>minimum expected-cost action</a:t>
            </a:r>
            <a:r>
              <a:rPr b="0" sz="2200">
                <a:solidFill>
                  <a:srgbClr val="1F3864"/>
                </a:solidFill>
                <a:latin typeface="Calibri"/>
              </a:rPr>
              <a:t> (Monitor, Inspect or Repair).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Deliver the full workflow through an interactive </a:t>
            </a:r>
            <a:r>
              <a:rPr b="1" sz="2200">
                <a:solidFill>
                  <a:srgbClr val="1F3864"/>
                </a:solidFill>
                <a:latin typeface="Calibri"/>
              </a:rPr>
              <a:t>Streamlit dashboard</a:t>
            </a:r>
            <a:r>
              <a:rPr b="0" sz="2200">
                <a:solidFill>
                  <a:srgbClr val="1F3864"/>
                </a:solidFill>
                <a:latin typeface="Calibri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Data Acquisition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CWRU Bearing Dataset</a:t>
            </a:r>
            <a:r>
              <a:rPr b="0" sz="2100">
                <a:solidFill>
                  <a:srgbClr val="1F3864"/>
                </a:solidFill>
                <a:latin typeface="Calibri"/>
              </a:rPr>
              <a:t>: drive-end accelerometer signals sampled at 12 kHz under motor loads of 0–3 HP.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Fault diameters of 0.007", 0.014" and 0.021" for Ball, Inner-Race and Outer-Race faults, plus Normal baseline.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Segmentation &amp; Labelling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Signals split into </a:t>
            </a:r>
            <a:r>
              <a:rPr b="1" sz="2100">
                <a:solidFill>
                  <a:srgbClr val="1F3864"/>
                </a:solidFill>
                <a:latin typeface="Calibri"/>
              </a:rPr>
              <a:t>fixed-length sliding windows</a:t>
            </a:r>
            <a:r>
              <a:rPr b="0" sz="2100">
                <a:solidFill>
                  <a:srgbClr val="1F3864"/>
                </a:solidFill>
                <a:latin typeface="Calibri"/>
              </a:rPr>
              <a:t> with overlap to increase training samples.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Each window </a:t>
            </a:r>
            <a:r>
              <a:rPr b="1" sz="2100">
                <a:solidFill>
                  <a:srgbClr val="1F3864"/>
                </a:solidFill>
                <a:latin typeface="Calibri"/>
              </a:rPr>
              <a:t>z-score normalised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labelled with one of the 4 classes.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Stratified train / validation / test split</a:t>
            </a:r>
            <a:r>
              <a:rPr b="0" sz="2100">
                <a:solidFill>
                  <a:srgbClr val="1F3864"/>
                </a:solidFill>
                <a:latin typeface="Calibri"/>
              </a:rPr>
              <a:t>, separated by recording to prevent data leakage.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Data Preprocessing &amp; Signal Segmentation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Model Design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Stacked </a:t>
            </a:r>
            <a:r>
              <a:rPr b="1" sz="2100">
                <a:solidFill>
                  <a:srgbClr val="1F3864"/>
                </a:solidFill>
                <a:latin typeface="Calibri"/>
              </a:rPr>
              <a:t>Conv1D → BatchNorm → ReLU → MaxPool</a:t>
            </a:r>
            <a:r>
              <a:rPr b="0" sz="2100">
                <a:solidFill>
                  <a:srgbClr val="1F3864"/>
                </a:solidFill>
                <a:latin typeface="Calibri"/>
              </a:rPr>
              <a:t> blocks learn fault patterns directly from raw signals.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Global average pooling and a </a:t>
            </a:r>
            <a:r>
              <a:rPr b="1" sz="2100">
                <a:solidFill>
                  <a:srgbClr val="1F3864"/>
                </a:solidFill>
                <a:latin typeface="Calibri"/>
              </a:rPr>
              <a:t>softmax layer</a:t>
            </a:r>
            <a:r>
              <a:rPr b="0" sz="2100">
                <a:solidFill>
                  <a:srgbClr val="1F3864"/>
                </a:solidFill>
                <a:latin typeface="Calibri"/>
              </a:rPr>
              <a:t> output the probability of each fault class.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Training &amp; Evaluation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Adam optimiser, cross-entropy loss and </a:t>
            </a:r>
            <a:r>
              <a:rPr b="1" sz="2100">
                <a:solidFill>
                  <a:srgbClr val="1F3864"/>
                </a:solidFill>
                <a:latin typeface="Calibri"/>
              </a:rPr>
              <a:t>early stopping</a:t>
            </a:r>
            <a:r>
              <a:rPr b="0" sz="2100">
                <a:solidFill>
                  <a:srgbClr val="1F3864"/>
                </a:solidFill>
                <a:latin typeface="Calibri"/>
              </a:rPr>
              <a:t> on validation loss.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Metrics: </a:t>
            </a:r>
            <a:r>
              <a:rPr b="1" sz="2100">
                <a:solidFill>
                  <a:srgbClr val="1F3864"/>
                </a:solidFill>
                <a:latin typeface="Calibri"/>
              </a:rPr>
              <a:t>accuracy, macro-F1 and confusion matrix</a:t>
            </a:r>
            <a:r>
              <a:rPr b="0" sz="2100">
                <a:solidFill>
                  <a:srgbClr val="1F3864"/>
                </a:solidFill>
                <a:latin typeface="Calibri"/>
              </a:rPr>
              <a:t>; robustness tested across motor loads.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Baseline: </a:t>
            </a:r>
            <a:r>
              <a:rPr b="1" sz="2100">
                <a:solidFill>
                  <a:srgbClr val="1F3864"/>
                </a:solidFill>
                <a:latin typeface="Calibri"/>
              </a:rPr>
              <a:t>Random Forest / SVM</a:t>
            </a:r>
            <a:r>
              <a:rPr b="0" sz="2100">
                <a:solidFill>
                  <a:srgbClr val="1F3864"/>
                </a:solidFill>
                <a:latin typeface="Calibri"/>
              </a:rPr>
              <a:t> on RMS, kurtosis, crest factor and FFT band energies.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Bearing Fault Diagnosis (1D-CNN)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Generator &amp; Discriminator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Class-conditioned 1D generator</a:t>
            </a:r>
            <a:r>
              <a:rPr b="0" sz="2100">
                <a:solidFill>
                  <a:srgbClr val="1F3864"/>
                </a:solidFill>
                <a:latin typeface="Calibri"/>
              </a:rPr>
              <a:t> produces vibration segments for a chosen fault type.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Discriminator</a:t>
            </a:r>
            <a:r>
              <a:rPr b="0" sz="2100">
                <a:solidFill>
                  <a:srgbClr val="1F3864"/>
                </a:solidFill>
                <a:latin typeface="Calibri"/>
              </a:rPr>
              <a:t> learns to separate real from synthetic signals for each class.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Quality &amp; Augmentation Study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Synthetic signals compared with real ones using </a:t>
            </a:r>
            <a:r>
              <a:rPr b="1" sz="2100">
                <a:solidFill>
                  <a:srgbClr val="1F3864"/>
                </a:solidFill>
                <a:latin typeface="Calibri"/>
              </a:rPr>
              <a:t>FFT spectra and statistical features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Classifier trained </a:t>
            </a:r>
            <a:r>
              <a:rPr b="1" sz="2100">
                <a:solidFill>
                  <a:srgbClr val="1F3864"/>
                </a:solidFill>
                <a:latin typeface="Calibri"/>
              </a:rPr>
              <a:t>with vs without augmentation</a:t>
            </a:r>
            <a:r>
              <a:rPr b="0" sz="2100">
                <a:solidFill>
                  <a:srgbClr val="1F3864"/>
                </a:solidFill>
                <a:latin typeface="Calibri"/>
              </a:rPr>
              <a:t> to measure the effect on minority fault classes.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C-GAN Synthetic Vibration Data Generation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Risk Factors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Fault probability (P)</a:t>
            </a:r>
            <a:r>
              <a:rPr b="0" sz="2100">
                <a:solidFill>
                  <a:srgbClr val="1F3864"/>
                </a:solidFill>
                <a:latin typeface="Calibri"/>
              </a:rPr>
              <a:t> from the 1D-CNN softmax output.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Severity (Sev)</a:t>
            </a:r>
            <a:r>
              <a:rPr b="0" sz="2100">
                <a:solidFill>
                  <a:srgbClr val="1F3864"/>
                </a:solidFill>
                <a:latin typeface="Calibri"/>
              </a:rPr>
              <a:t> weighted by fault type and fault size.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Asset criticality (C)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</a:t>
            </a:r>
            <a:r>
              <a:rPr b="1" sz="2100">
                <a:solidFill>
                  <a:srgbClr val="1F3864"/>
                </a:solidFill>
                <a:latin typeface="Calibri"/>
              </a:rPr>
              <a:t>operating stress (S)</a:t>
            </a:r>
            <a:r>
              <a:rPr b="0" sz="2100">
                <a:solidFill>
                  <a:srgbClr val="1F3864"/>
                </a:solidFill>
                <a:latin typeface="Calibri"/>
              </a:rPr>
              <a:t> from load and speed conditions.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Risk Scoring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Risk = P × Sev × C × S</a:t>
            </a:r>
            <a:r>
              <a:rPr b="0" sz="2100">
                <a:solidFill>
                  <a:srgbClr val="1F3864"/>
                </a:solidFill>
                <a:latin typeface="Calibri"/>
              </a:rPr>
              <a:t>, normalised to a 0–1 scale.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Mapped to </a:t>
            </a:r>
            <a:r>
              <a:rPr b="1" sz="2100">
                <a:solidFill>
                  <a:srgbClr val="1F3864"/>
                </a:solidFill>
                <a:latin typeface="Calibri"/>
              </a:rPr>
              <a:t>Low / Medium / High</a:t>
            </a:r>
            <a:r>
              <a:rPr b="0" sz="2100">
                <a:solidFill>
                  <a:srgbClr val="1F3864"/>
                </a:solidFill>
                <a:latin typeface="Calibri"/>
              </a:rPr>
              <a:t> bands and recomputed for every new signal window (dynamic).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Dynamic Risk Assessment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Cost-Aware Decision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Expected cost</a:t>
            </a:r>
            <a:r>
              <a:rPr b="0" sz="2100">
                <a:solidFill>
                  <a:srgbClr val="1F3864"/>
                </a:solidFill>
                <a:latin typeface="Calibri"/>
              </a:rPr>
              <a:t> of each action = action cost + residual failure probability × failure cost.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Failure cost covers </a:t>
            </a:r>
            <a:r>
              <a:rPr b="1" sz="2100">
                <a:solidFill>
                  <a:srgbClr val="1F3864"/>
                </a:solidFill>
                <a:latin typeface="Calibri"/>
              </a:rPr>
              <a:t>downtime, repair and secondary damage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The action with the </a:t>
            </a:r>
            <a:r>
              <a:rPr b="1" sz="2100">
                <a:solidFill>
                  <a:srgbClr val="1F3864"/>
                </a:solidFill>
                <a:latin typeface="Calibri"/>
              </a:rPr>
              <a:t>lowest expected cost</a:t>
            </a:r>
            <a:r>
              <a:rPr b="0" sz="2100">
                <a:solidFill>
                  <a:srgbClr val="1F3864"/>
                </a:solidFill>
                <a:latin typeface="Calibri"/>
              </a:rPr>
              <a:t> is recommended: Monitor, Inspect or Repair.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Streamlit Dashboard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Upload a signal → view </a:t>
            </a:r>
            <a:r>
              <a:rPr b="1" sz="2100">
                <a:solidFill>
                  <a:srgbClr val="1F3864"/>
                </a:solidFill>
                <a:latin typeface="Calibri"/>
              </a:rPr>
              <a:t>predicted fault &amp; confidence, risk gauge, cost comparison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the recommended action with its rationale.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Cost-Aware Decision Engine &amp; Dashboard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9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Data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Load CWRU signals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Window, normalise, label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Stratified split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8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48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17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Fault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Baseline ML on features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1D-CNN on raw signals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Compare F1 &amp; accuracy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6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6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65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Data Augmentation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Train class-conditioned C-GAN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Validate synthetic quality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Retrain with augmentation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4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44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13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4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Risk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Fuse P, severity, criticality, stress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Low / Medium / High bands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2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0561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Decision &amp;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2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Expected-cost per action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Recommend best action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Streamlit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000" y="4500000"/>
            <a:ext cx="11590000" cy="82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/>
            <a:r>
              <a:rPr b="1" sz="1600">
                <a:solidFill>
                  <a:srgbClr val="1F3864"/>
                </a:solidFill>
                <a:latin typeface="Calibri"/>
              </a:rPr>
              <a:t>Modeling plan:  </a:t>
            </a:r>
            <a:r>
              <a:rPr b="0" sz="1600">
                <a:solidFill>
                  <a:srgbClr val="1F3864"/>
                </a:solidFill>
                <a:latin typeface="Calibri"/>
              </a:rPr>
              <a:t>baseline ML → 1D-CNN → CNN + C-GAN augmentation, compared on accuracy, macro-F1 and robustness across motor loads; best model feeds the risk and cost engine.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1C4D98"/>
                </a:solidFill>
                <a:latin typeface="Calibri"/>
              </a:rP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Load </a:t>
            </a:r>
            <a:r>
              <a:rPr b="1" sz="1700">
                <a:solidFill>
                  <a:srgbClr val="1F3864"/>
                </a:solidFill>
                <a:latin typeface="Calibri"/>
              </a:rPr>
              <a:t>.mat files</a:t>
            </a:r>
            <a:r>
              <a:rPr b="0" sz="1700">
                <a:solidFill>
                  <a:srgbClr val="1F3864"/>
                </a:solidFill>
                <a:latin typeface="Calibri"/>
              </a:rPr>
              <a:t> and extract the drive-end (DE) channel.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Sliding-window segmentation</a:t>
            </a:r>
            <a:r>
              <a:rPr b="0" sz="1700">
                <a:solidFill>
                  <a:srgbClr val="1F3864"/>
                </a:solidFill>
                <a:latin typeface="Calibri"/>
              </a:rPr>
              <a:t> into fixed-length samples.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Z-score normalisation</a:t>
            </a:r>
            <a:r>
              <a:rPr b="0" sz="1700">
                <a:solidFill>
                  <a:srgbClr val="1F3864"/>
                </a:solidFill>
                <a:latin typeface="Calibri"/>
              </a:rPr>
              <a:t> per segment.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Label encoding</a:t>
            </a:r>
            <a:r>
              <a:rPr b="0" sz="1700">
                <a:solidFill>
                  <a:srgbClr val="1F3864"/>
                </a:solidFill>
                <a:latin typeface="Calibri"/>
              </a:rPr>
              <a:t> into 4 classes.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Stratified split</a:t>
            </a:r>
            <a:r>
              <a:rPr b="0" sz="1700">
                <a:solidFill>
                  <a:srgbClr val="1F3864"/>
                </a:solidFill>
                <a:latin typeface="Calibri"/>
              </a:rPr>
              <a:t> by recording to avoid leakage.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Class-balance check</a:t>
            </a:r>
            <a:r>
              <a:rPr b="0" sz="1700">
                <a:solidFill>
                  <a:srgbClr val="1F3864"/>
                </a:solidFill>
                <a:latin typeface="Calibri"/>
              </a:rPr>
              <a:t> across fault types and 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2E9CA6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Time-domain waveforms</a:t>
            </a:r>
            <a:r>
              <a:rPr b="0" sz="1700">
                <a:solidFill>
                  <a:srgbClr val="1F3864"/>
                </a:solidFill>
                <a:latin typeface="Calibri"/>
              </a:rPr>
              <a:t> per class – fault classes show periodic impulses.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Statistical features</a:t>
            </a:r>
            <a:r>
              <a:rPr b="0" sz="1700">
                <a:solidFill>
                  <a:srgbClr val="1F3864"/>
                </a:solidFill>
                <a:latin typeface="Calibri"/>
              </a:rPr>
              <a:t> (RMS, kurtosis, crest factor) compared across classes.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FFT &amp; envelope spectra</a:t>
            </a:r>
            <a:r>
              <a:rPr b="0" sz="1700">
                <a:solidFill>
                  <a:srgbClr val="1F3864"/>
                </a:solidFill>
                <a:latin typeface="Calibri"/>
              </a:rPr>
              <a:t> inspected near bearing defect frequencies (BPFI, BPFO, BSF).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Class distribution</a:t>
            </a:r>
            <a:r>
              <a:rPr b="0" sz="1700">
                <a:solidFill>
                  <a:srgbClr val="1F3864"/>
                </a:solidFill>
                <a:latin typeface="Calibri"/>
              </a:rPr>
              <a:t> reviewed – imbalance motivates C-GAN augmentation.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Load-wise comparison</a:t>
            </a:r>
            <a:r>
              <a:rPr b="0" sz="1700">
                <a:solidFill>
                  <a:srgbClr val="1F3864"/>
                </a:solidFill>
                <a:latin typeface="Calibri"/>
              </a:rPr>
              <a:t> of signals from 0–3 HP.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5600000"/>
                <a:gridCol w="309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Algorithm / Technique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Signal processing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Windowing, FFT, envelope analysis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NumPy, SciPy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Baseline classifier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Random Forest / SVM on handcrafted features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Fault diagnosis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1D Convolutional Neural Network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Synthetic data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Conditional GAN (C-GAN)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Risk engine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Weighted risk score: P × Sev × C × 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Cost decision engine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Expected-cost minimisation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Interactive decision support UI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Streamlit, Plotly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Version control &amp; containerisation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Git, Docker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6890000"/>
                <a:gridCol w="300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Problem definition, literature review, module plan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2E7D32"/>
                          </a:solidFill>
                          <a:latin typeface="Calibri"/>
                        </a:rPr>
                        <a:t>Completed (Review I)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CWRU data collection, preprocessing &amp; segmentation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2E7D32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Exploratory data analysis &amp; feature study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2E7D32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Baseline ML and 1D-CNN fault diagnosis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B26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5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C-GAN synthetic data &amp; augmentation study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B26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6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Risk assessment &amp; cost-aware decision engine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595959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7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Streamlit dashboard, integration &amp; testing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595959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8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Final evaluation, report &amp; paper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595959"/>
                          </a:solidFill>
                          <a:latin typeface="Calibri"/>
                        </a:rPr>
                        <a:t>Planned (Review III)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2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CWRU Vibration Data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Drive-end signals, 4 classes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2500" y="26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02500" y="2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Preprocessing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Windowing, normalisation, split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05000" y="26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5000" y="2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1D-CNN Classifier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Fault type diagnosis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07500" y="26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07500" y="2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Fault Output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Class + probability (P)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98750" y="3120000"/>
            <a:ext cx="0" cy="61000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07500" y="37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Risk Engine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P × Severity × Criticality × Stress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907500" y="42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5000" y="37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Cost Engine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Expected cost per action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905000" y="42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02500" y="37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Decision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Monitor / Inspect / Repair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902500" y="42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0000" y="37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Streamlit Dashboard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Fault, risk, cost,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5000" y="1380000"/>
            <a:ext cx="2582500" cy="5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5875">
            <a:solidFill>
              <a:srgbClr val="1C4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300">
                <a:solidFill>
                  <a:srgbClr val="1C4D98"/>
                </a:solidFill>
                <a:latin typeface="Calibri"/>
              </a:rPr>
              <a:t>C-GAN synthetic data → augmentation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96250" y="1895000"/>
            <a:ext cx="0" cy="24000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560000"/>
            <a:ext cx="11428184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3200">
                <a:solidFill>
                  <a:srgbClr val="FFFFFF"/>
                </a:solidFill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2400">
                <a:solidFill>
                  <a:srgbClr val="FFFFFF"/>
                </a:solidFill>
              </a:rPr>
              <a:t>Project Title</a:t>
            </a:r>
          </a:p>
          <a:p>
            <a:pPr lvl="0" algn="ctr">
              <a:defRPr/>
            </a:pPr>
            <a:r>
              <a:rPr b="1" sz="2600">
                <a:solidFill>
                  <a:srgbClr val="FFFFFF"/>
                </a:solidFill>
              </a:rPr>
              <a:t>SafeZone: A Real-Time Worker-Machinery Proximity Alert System for Construction Sites Using YOLO and Perspective-Corrected Distance Estimation</a:t>
            </a:r>
          </a:p>
          <a:p>
            <a:pPr lvl="0" algn="ctr">
              <a:defRPr/>
            </a:pPr>
            <a:r>
              <a:rPr b="0" sz="1000">
                <a:solidFill>
                  <a:srgbClr val="FFFFFF"/>
                </a:solidFill>
              </a:rPr>
              <a:t/>
            </a:r>
          </a:p>
          <a:p>
            <a:pPr lvl="0" algn="ctr">
              <a:defRPr/>
            </a:pPr>
            <a:r>
              <a:rPr b="1" sz="1800">
                <a:solidFill>
                  <a:srgbClr val="FFFFFF"/>
                </a:solidFill>
              </a:rPr>
              <a:t>Team Member</a:t>
            </a:r>
          </a:p>
          <a:p>
            <a:pPr algn="ctr">
              <a:defRPr/>
            </a:pPr>
            <a:r>
              <a:rPr b="1" sz="2200">
                <a:solidFill>
                  <a:srgbClr val="FFFFFF"/>
                </a:solidFill>
              </a:rPr>
              <a:t>SUBASH M  |  T9970</a:t>
            </a:r>
          </a:p>
          <a:p>
            <a:pPr lvl="0" algn="ctr">
              <a:defRPr/>
            </a:pPr>
            <a:r>
              <a:rPr b="1" sz="1600">
                <a:solidFill>
                  <a:srgbClr val="FFFFFF"/>
                </a:solidFill>
              </a:rPr>
              <a:t>RAJALAKSHMI ENGINEERING COLLEGE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Struck-by contact with </a:t>
            </a:r>
            <a:r>
              <a:rPr b="1" sz="2100">
                <a:solidFill>
                  <a:srgbClr val="1F3864"/>
                </a:solidFill>
                <a:latin typeface="Calibri"/>
              </a:rPr>
              <a:t>excavators, loaders and trucks</a:t>
            </a:r>
            <a:r>
              <a:rPr b="0" sz="2100">
                <a:solidFill>
                  <a:srgbClr val="1F3864"/>
                </a:solidFill>
                <a:latin typeface="Calibri"/>
              </a:rPr>
              <a:t> injures workers because operators have blind spots around the machine.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Supervisors cannot watch every camera; </a:t>
            </a:r>
            <a:r>
              <a:rPr b="1" sz="2100">
                <a:solidFill>
                  <a:srgbClr val="1F3864"/>
                </a:solidFill>
                <a:latin typeface="Calibri"/>
              </a:rPr>
              <a:t>close calls go unseen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are rarely </a:t>
            </a:r>
            <a:r>
              <a:rPr b="1" sz="2100">
                <a:solidFill>
                  <a:srgbClr val="1F3864"/>
                </a:solidFill>
                <a:latin typeface="Calibri"/>
              </a:rPr>
              <a:t>recorded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Review I defined the gap: camera systems measure distance in </a:t>
            </a:r>
            <a:r>
              <a:rPr b="1" sz="2100">
                <a:solidFill>
                  <a:srgbClr val="1F3864"/>
                </a:solidFill>
                <a:latin typeface="Calibri"/>
              </a:rPr>
              <a:t>pixels</a:t>
            </a:r>
            <a:r>
              <a:rPr b="0" sz="2100">
                <a:solidFill>
                  <a:srgbClr val="1F3864"/>
                </a:solidFill>
                <a:latin typeface="Calibri"/>
              </a:rPr>
              <a:t>, which </a:t>
            </a:r>
            <a:r>
              <a:rPr b="1" sz="2100">
                <a:solidFill>
                  <a:srgbClr val="1F3864"/>
                </a:solidFill>
                <a:latin typeface="Calibri"/>
              </a:rPr>
              <a:t>perspective distorts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Review II presents the </a:t>
            </a:r>
            <a:r>
              <a:rPr b="1" sz="2100">
                <a:solidFill>
                  <a:srgbClr val="1F3864"/>
                </a:solidFill>
                <a:latin typeface="Calibri"/>
              </a:rPr>
              <a:t>methodology, preprocessing &amp; EDA, algorithms and tools, progress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</a:t>
            </a:r>
            <a:r>
              <a:rPr b="1" sz="2100">
                <a:solidFill>
                  <a:srgbClr val="1F3864"/>
                </a:solidFill>
                <a:latin typeface="Calibri"/>
              </a:rPr>
              <a:t>pipeline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The system combines </a:t>
            </a:r>
            <a:r>
              <a:rPr b="1" sz="2100">
                <a:solidFill>
                  <a:srgbClr val="1F3864"/>
                </a:solidFill>
                <a:latin typeface="Calibri"/>
              </a:rPr>
              <a:t>YOLO11n detection, ByteTrack tracking, homography ground mapping and time-to-contact</a:t>
            </a:r>
            <a:r>
              <a:rPr b="0" sz="2100">
                <a:solidFill>
                  <a:srgbClr val="1F3864"/>
                </a:solidFill>
                <a:latin typeface="Calibri"/>
              </a:rPr>
              <a:t> with </a:t>
            </a:r>
            <a:r>
              <a:rPr b="1" sz="2100">
                <a:solidFill>
                  <a:srgbClr val="1F3864"/>
                </a:solidFill>
                <a:latin typeface="Calibri"/>
              </a:rPr>
              <a:t>Streamlit</a:t>
            </a:r>
            <a:r>
              <a:rPr b="0" sz="2100">
                <a:solidFill>
                  <a:srgbClr val="1F3864"/>
                </a:solidFill>
                <a:latin typeface="Calibri"/>
              </a:rPr>
              <a:t> alerts.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Detect workers and machines in site video with a </a:t>
            </a:r>
            <a:r>
              <a:rPr b="1" sz="2100">
                <a:solidFill>
                  <a:srgbClr val="1F3864"/>
                </a:solidFill>
                <a:latin typeface="Calibri"/>
              </a:rPr>
              <a:t>fine-tuned YOLO11n detector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Track each object across frames with </a:t>
            </a:r>
            <a:r>
              <a:rPr b="1" sz="2100">
                <a:solidFill>
                  <a:srgbClr val="1F3864"/>
                </a:solidFill>
                <a:latin typeface="Calibri"/>
              </a:rPr>
              <a:t>ByteTrack</a:t>
            </a:r>
            <a:r>
              <a:rPr b="0" sz="2100">
                <a:solidFill>
                  <a:srgbClr val="1F3864"/>
                </a:solidFill>
                <a:latin typeface="Calibri"/>
              </a:rPr>
              <a:t> stable IDs.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Map image positions to </a:t>
            </a:r>
            <a:r>
              <a:rPr b="1" sz="2100">
                <a:solidFill>
                  <a:srgbClr val="1F3864"/>
                </a:solidFill>
                <a:latin typeface="Calibri"/>
              </a:rPr>
              <a:t>ground coordinates in metres</a:t>
            </a:r>
            <a:r>
              <a:rPr b="0" sz="2100">
                <a:solidFill>
                  <a:srgbClr val="1F3864"/>
                </a:solidFill>
                <a:latin typeface="Calibri"/>
              </a:rPr>
              <a:t> with a homography.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Estimate distance, machine motion and </a:t>
            </a:r>
            <a:r>
              <a:rPr b="1" sz="2100">
                <a:solidFill>
                  <a:srgbClr val="1F3864"/>
                </a:solidFill>
                <a:latin typeface="Calibri"/>
              </a:rPr>
              <a:t>time-to-contact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every pair.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Raise Safe / Warning / Danger alerts and </a:t>
            </a:r>
            <a:r>
              <a:rPr b="1" sz="2100">
                <a:solidFill>
                  <a:srgbClr val="1F3864"/>
                </a:solidFill>
                <a:latin typeface="Calibri"/>
              </a:rPr>
              <a:t>log near-misses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Show results in a </a:t>
            </a:r>
            <a:r>
              <a:rPr b="1" sz="2100">
                <a:solidFill>
                  <a:srgbClr val="1F3864"/>
                </a:solidFill>
                <a:latin typeface="Calibri"/>
              </a:rPr>
              <a:t>Streamlit dashboard</a:t>
            </a:r>
            <a:r>
              <a:rPr b="0" sz="2100">
                <a:solidFill>
                  <a:srgbClr val="1F3864"/>
                </a:solidFill>
                <a:latin typeface="Calibri"/>
              </a:rPr>
              <a:t> with analytics and reports.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Datasets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Use the </a:t>
            </a:r>
            <a:r>
              <a:rPr b="1" sz="2100">
                <a:solidFill>
                  <a:srgbClr val="1F3864"/>
                </a:solidFill>
                <a:latin typeface="Calibri"/>
              </a:rPr>
              <a:t>Construction Site Safety Image Dataset</a:t>
            </a:r>
            <a:r>
              <a:rPr b="0" sz="2100">
                <a:solidFill>
                  <a:srgbClr val="1F3864"/>
                </a:solidFill>
                <a:latin typeface="Calibri"/>
              </a:rPr>
              <a:t> (2,801 images, YOLO format).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Plan </a:t>
            </a:r>
            <a:r>
              <a:rPr b="1" sz="2100">
                <a:solidFill>
                  <a:srgbClr val="1F3864"/>
                </a:solidFill>
                <a:latin typeface="Calibri"/>
              </a:rPr>
              <a:t>MOCS (41,668 images, 13 classes)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machine-type labels.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Detector Training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Fine-tune </a:t>
            </a:r>
            <a:r>
              <a:rPr b="1" sz="2100">
                <a:solidFill>
                  <a:srgbClr val="1F3864"/>
                </a:solidFill>
                <a:latin typeface="Calibri"/>
              </a:rPr>
              <a:t>YOLO11n from COCO weights</a:t>
            </a:r>
            <a:r>
              <a:rPr b="0" sz="2100">
                <a:solidFill>
                  <a:srgbClr val="1F3864"/>
                </a:solidFill>
                <a:latin typeface="Calibri"/>
              </a:rPr>
              <a:t> on a Kaggle T4 GPU at 640 px.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Map classes to </a:t>
            </a:r>
            <a:r>
              <a:rPr b="1" sz="2100">
                <a:solidFill>
                  <a:srgbClr val="1F3864"/>
                </a:solidFill>
                <a:latin typeface="Calibri"/>
              </a:rPr>
              <a:t>worker and machine types</a:t>
            </a:r>
            <a:r>
              <a:rPr b="0" sz="2100">
                <a:solidFill>
                  <a:srgbClr val="1F3864"/>
                </a:solidFill>
                <a:latin typeface="Calibri"/>
              </a:rPr>
              <a:t> (Person, machinery, vehicle).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Export to </a:t>
            </a:r>
            <a:r>
              <a:rPr b="1" sz="2100">
                <a:solidFill>
                  <a:srgbClr val="1F3864"/>
                </a:solidFill>
                <a:latin typeface="Calibri"/>
              </a:rPr>
              <a:t>OpenVINO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CPU inference on the laptop.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Data Preparation &amp; Detector Training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200">
                <a:solidFill>
                  <a:srgbClr val="5583D1"/>
                </a:solidFill>
                <a:latin typeface="Calibri"/>
              </a:rPr>
              <a:t>Multi-Object Tracking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F3864"/>
                </a:solidFill>
                <a:latin typeface="Calibri"/>
              </a:rPr>
              <a:t>ByteTrack</a:t>
            </a:r>
            <a:r>
              <a:rPr b="0" sz="2000">
                <a:solidFill>
                  <a:srgbClr val="1F3864"/>
                </a:solidFill>
                <a:latin typeface="Calibri"/>
              </a:rPr>
              <a:t>: stable IDs for each worker and machine across frames.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F3864"/>
                </a:solidFill>
                <a:latin typeface="Calibri"/>
              </a:rPr>
              <a:t>Track history</a:t>
            </a:r>
            <a:r>
              <a:rPr b="0" sz="2000">
                <a:solidFill>
                  <a:srgbClr val="1F3864"/>
                </a:solidFill>
                <a:latin typeface="Calibri"/>
              </a:rPr>
              <a:t>: 1.5 s of ground positions per ID.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F3864"/>
                </a:solidFill>
                <a:latin typeface="Calibri"/>
              </a:rPr>
              <a:t>Smoothing</a:t>
            </a:r>
            <a:r>
              <a:rPr b="0" sz="2000">
                <a:solidFill>
                  <a:srgbClr val="1F3864"/>
                </a:solidFill>
                <a:latin typeface="Calibri"/>
              </a:rPr>
              <a:t>: exponential averaging of box positions to cut jitter.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200">
                <a:solidFill>
                  <a:srgbClr val="5583D1"/>
                </a:solidFill>
                <a:latin typeface="Calibri"/>
              </a:rPr>
              <a:t>Homography Calibration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F3864"/>
                </a:solidFill>
                <a:latin typeface="Calibri"/>
              </a:rPr>
              <a:t>Point pairs</a:t>
            </a:r>
            <a:r>
              <a:rPr b="0" sz="2000">
                <a:solidFill>
                  <a:srgbClr val="1F3864"/>
                </a:solidFill>
                <a:latin typeface="Calibri"/>
              </a:rPr>
              <a:t> clicked on the image with known ground positions.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Homography H (</a:t>
            </a:r>
            <a:r>
              <a:rPr b="1" sz="2000">
                <a:solidFill>
                  <a:srgbClr val="1F3864"/>
                </a:solidFill>
                <a:latin typeface="Calibri"/>
              </a:rPr>
              <a:t>OpenCV findHomography</a:t>
            </a:r>
            <a:r>
              <a:rPr b="0" sz="2000">
                <a:solidFill>
                  <a:srgbClr val="1F3864"/>
                </a:solidFill>
                <a:latin typeface="Calibri"/>
              </a:rPr>
              <a:t>) maps pixels to metres.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Checked with </a:t>
            </a:r>
            <a:r>
              <a:rPr b="1" sz="2000">
                <a:solidFill>
                  <a:srgbClr val="1F3864"/>
                </a:solidFill>
                <a:latin typeface="Calibri"/>
              </a:rPr>
              <a:t>reprojection error in metres</a:t>
            </a:r>
            <a:r>
              <a:rPr b="0" sz="2000">
                <a:solidFill>
                  <a:srgbClr val="1F3864"/>
                </a:solidFill>
                <a:latin typeface="Calibri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Tracking &amp; Ground-Plane Mapping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Ground Distance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Worker reduced to a </a:t>
            </a:r>
            <a:r>
              <a:rPr b="1" sz="2100">
                <a:solidFill>
                  <a:srgbClr val="1F3864"/>
                </a:solidFill>
                <a:latin typeface="Calibri"/>
              </a:rPr>
              <a:t>foot point</a:t>
            </a:r>
            <a:r>
              <a:rPr b="0" sz="2100">
                <a:solidFill>
                  <a:srgbClr val="1F3864"/>
                </a:solidFill>
                <a:latin typeface="Calibri"/>
              </a:rPr>
              <a:t> (bottom-centre of the box).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Machine footprint</a:t>
            </a:r>
            <a:r>
              <a:rPr b="0" sz="2100">
                <a:solidFill>
                  <a:srgbClr val="1F3864"/>
                </a:solidFill>
                <a:latin typeface="Calibri"/>
              </a:rPr>
              <a:t> built from the box bottom edge plus machine depth.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Distance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Measure the </a:t>
            </a:r>
            <a:r>
              <a:rPr b="1" sz="2100">
                <a:solidFill>
                  <a:srgbClr val="1F3864"/>
                </a:solidFill>
                <a:latin typeface="Calibri"/>
              </a:rPr>
              <a:t>foot point to footprint distance</a:t>
            </a:r>
            <a:r>
              <a:rPr b="0" sz="2100">
                <a:solidFill>
                  <a:srgbClr val="1F3864"/>
                </a:solidFill>
                <a:latin typeface="Calibri"/>
              </a:rPr>
              <a:t> in metres.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Machine motion</a:t>
            </a:r>
            <a:r>
              <a:rPr b="0" sz="2100">
                <a:solidFill>
                  <a:srgbClr val="1F3864"/>
                </a:solidFill>
                <a:latin typeface="Calibri"/>
              </a:rPr>
              <a:t> from footprint speed and box-shape change.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Compare </a:t>
            </a:r>
            <a:r>
              <a:rPr b="1" sz="2100">
                <a:solidFill>
                  <a:srgbClr val="1F3864"/>
                </a:solidFill>
                <a:latin typeface="Calibri"/>
              </a:rPr>
              <a:t>homography vs pixel distance</a:t>
            </a:r>
            <a:r>
              <a:rPr b="0" sz="2100">
                <a:solidFill>
                  <a:srgbClr val="1F3864"/>
                </a:solidFill>
                <a:latin typeface="Calibri"/>
              </a:rPr>
              <a:t> in the ablation.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Distance &amp; Motion Estimation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Time-to-Contact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Estimate </a:t>
            </a:r>
            <a:r>
              <a:rPr b="1" sz="2100">
                <a:solidFill>
                  <a:srgbClr val="1F3864"/>
                </a:solidFill>
                <a:latin typeface="Calibri"/>
              </a:rPr>
              <a:t>closing speed</a:t>
            </a:r>
            <a:r>
              <a:rPr b="0" sz="2100">
                <a:solidFill>
                  <a:srgbClr val="1F3864"/>
                </a:solidFill>
                <a:latin typeface="Calibri"/>
              </a:rPr>
              <a:t> from the slope of pair distance over 1.5 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Compute </a:t>
            </a:r>
            <a:r>
              <a:rPr b="1" sz="2100">
                <a:solidFill>
                  <a:srgbClr val="1F3864"/>
                </a:solidFill>
                <a:latin typeface="Calibri"/>
              </a:rPr>
              <a:t>TTC = distance / closing speed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each worker-machine pair.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Alert Rules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Danger below 5 m or TTC 2 s; Warning below 10 m or TTC 5 s (moving machine).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Label every worker </a:t>
            </a:r>
            <a:r>
              <a:rPr b="1" sz="2100">
                <a:solidFill>
                  <a:srgbClr val="1F3864"/>
                </a:solidFill>
                <a:latin typeface="Calibri"/>
              </a:rPr>
              <a:t>Safe, Warning or Danger</a:t>
            </a:r>
            <a:r>
              <a:rPr b="0" sz="2100">
                <a:solidFill>
                  <a:srgbClr val="1F3864"/>
                </a:solidFill>
                <a:latin typeface="Calibri"/>
              </a:rPr>
              <a:t> on each frame.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Keep all </a:t>
            </a:r>
            <a:r>
              <a:rPr b="1" sz="2100">
                <a:solidFill>
                  <a:srgbClr val="1F3864"/>
                </a:solidFill>
                <a:latin typeface="Calibri"/>
              </a:rPr>
              <a:t>thresholds editable</a:t>
            </a:r>
            <a:r>
              <a:rPr b="0" sz="2100">
                <a:solidFill>
                  <a:srgbClr val="1F3864"/>
                </a:solidFill>
                <a:latin typeface="Calibri"/>
              </a:rPr>
              <a:t> on the Settings page.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Time-to-Contact &amp; Alert Rules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Near-Miss Logging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Each Warning or Danger period stored as </a:t>
            </a:r>
            <a:r>
              <a:rPr b="1" sz="2100">
                <a:solidFill>
                  <a:srgbClr val="1F3864"/>
                </a:solidFill>
                <a:latin typeface="Calibri"/>
              </a:rPr>
              <a:t>one event</a:t>
            </a:r>
            <a:r>
              <a:rPr b="0" sz="2100">
                <a:solidFill>
                  <a:srgbClr val="1F3864"/>
                </a:solidFill>
                <a:latin typeface="Calibri"/>
              </a:rPr>
              <a:t> in SQLite.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Closest distance, lowest TTC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machine state saved per event.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Streamlit Dashboard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Live monitor with </a:t>
            </a:r>
            <a:r>
              <a:rPr b="1" sz="2100">
                <a:solidFill>
                  <a:srgbClr val="1F3864"/>
                </a:solidFill>
                <a:latin typeface="Calibri"/>
              </a:rPr>
              <a:t>danger zones, alert banner and ground-plane map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Pages for </a:t>
            </a:r>
            <a:r>
              <a:rPr b="1" sz="2100">
                <a:solidFill>
                  <a:srgbClr val="1F3864"/>
                </a:solidFill>
                <a:latin typeface="Calibri"/>
              </a:rPr>
              <a:t>calibration, event log, analytics and settings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Includes </a:t>
            </a:r>
            <a:r>
              <a:rPr b="1" sz="2100">
                <a:solidFill>
                  <a:srgbClr val="1F3864"/>
                </a:solidFill>
                <a:latin typeface="Calibri"/>
              </a:rPr>
              <a:t>PDF safety reports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an alarm on Danger.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Event Logging &amp; Dashboard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9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Train YOLO11n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OpenVINO export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Worker / machine boxes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8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48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17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ByteTrack IDs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Box smoothing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1.5 s track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6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6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65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Ground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4-point calibration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Homography H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Pixels to metres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4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44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13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4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Risk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Footprint distance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Motion state + TTC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Safe / Warning / Danger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2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0561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Alerts &amp;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2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Near-miss log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Banner + alarm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Streamlit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000" y="4500000"/>
            <a:ext cx="11590000" cy="82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/>
            <a:r>
              <a:rPr b="1" sz="1600">
                <a:solidFill>
                  <a:srgbClr val="1F3864"/>
                </a:solidFill>
                <a:latin typeface="Calibri"/>
              </a:rPr>
              <a:t>Modeling plan:  </a:t>
            </a:r>
            <a:r>
              <a:rPr b="0" sz="1600">
                <a:solidFill>
                  <a:srgbClr val="1F3864"/>
                </a:solidFill>
                <a:latin typeface="Calibri"/>
              </a:rPr>
              <a:t>COCO-pretrained YOLO11n → fine-tuned on construction images → homography distance → TTC alerts; evaluated on mAP@0.5, alert precision / recall, lead time and FPS.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1C4D98"/>
                </a:solidFill>
                <a:latin typeface="Calibri"/>
              </a:rP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COCO to YOLO conversion</a:t>
            </a:r>
            <a:r>
              <a:rPr b="0" sz="1700">
                <a:solidFill>
                  <a:srgbClr val="1F3864"/>
                </a:solidFill>
                <a:latin typeface="Calibri"/>
              </a:rPr>
              <a:t> of box labels (MOCS) with class merging.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Class mapping</a:t>
            </a:r>
            <a:r>
              <a:rPr b="0" sz="1700">
                <a:solidFill>
                  <a:srgbClr val="1F3864"/>
                </a:solidFill>
                <a:latin typeface="Calibri"/>
              </a:rPr>
              <a:t> of dataset names to worker and machine types.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Train / validation split</a:t>
            </a:r>
            <a:r>
              <a:rPr b="0" sz="1700">
                <a:solidFill>
                  <a:srgbClr val="1F3864"/>
                </a:solidFill>
                <a:latin typeface="Calibri"/>
              </a:rPr>
              <a:t> kept as provided by the dataset.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Letterbox resizing</a:t>
            </a:r>
            <a:r>
              <a:rPr b="0" sz="1700">
                <a:solidFill>
                  <a:srgbClr val="1F3864"/>
                </a:solidFill>
                <a:latin typeface="Calibri"/>
              </a:rPr>
              <a:t> to 640 px for training and inference.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Augmentation</a:t>
            </a:r>
            <a:r>
              <a:rPr b="0" sz="1700">
                <a:solidFill>
                  <a:srgbClr val="1F3864"/>
                </a:solidFill>
                <a:latin typeface="Calibri"/>
              </a:rPr>
              <a:t> (mosaic, HSV, flips) applied by Ultralytics during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2E9CA6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Class distribution</a:t>
            </a:r>
            <a:r>
              <a:rPr b="0" sz="1700">
                <a:solidFill>
                  <a:srgbClr val="1F3864"/>
                </a:solidFill>
                <a:latin typeface="Calibri"/>
              </a:rPr>
              <a:t> of workers vs machines in the training set.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Box size distribution</a:t>
            </a:r>
            <a:r>
              <a:rPr b="0" sz="1700">
                <a:solidFill>
                  <a:srgbClr val="1F3864"/>
                </a:solidFill>
                <a:latin typeface="Calibri"/>
              </a:rPr>
              <a:t> to check small, distant workers.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Visual label check</a:t>
            </a:r>
            <a:r>
              <a:rPr b="0" sz="1700">
                <a:solidFill>
                  <a:srgbClr val="1F3864"/>
                </a:solidFill>
                <a:latin typeface="Calibri"/>
              </a:rPr>
              <a:t> of sample images before training.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Scene conditions</a:t>
            </a:r>
            <a:r>
              <a:rPr b="0" sz="1700">
                <a:solidFill>
                  <a:srgbClr val="1F3864"/>
                </a:solidFill>
                <a:latin typeface="Calibri"/>
              </a:rPr>
              <a:t> (lighting, camera height, crowding) reviewed.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1" sz="1700">
                <a:solidFill>
                  <a:srgbClr val="1F3864"/>
                </a:solidFill>
                <a:latin typeface="Calibri"/>
              </a:rPr>
              <a:t>Calibration check</a:t>
            </a:r>
            <a:r>
              <a:rPr b="0" sz="1700">
                <a:solidFill>
                  <a:srgbClr val="1F3864"/>
                </a:solidFill>
                <a:latin typeface="Calibri"/>
              </a:rPr>
              <a:t> of the 5 m ground grid on test frames.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5300000"/>
                <a:gridCol w="339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Algorithm / Technique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YOLO11n fine-tuned on construction images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Ultralytics, PyTorch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Tracking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ByteTrack multi-object tracking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Ultralytics, lap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Ground mapping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Homography from 4+ point pairs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OpenCV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Risk engine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Footprint distance, motion vote, TTC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CPU inference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Model export for Intel CPUs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OpenVINO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Event storage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Near-miss episodes with snapshots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SQLite, Pandas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GPU training in a cloud notebook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Kaggle (T4 GPU)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Live monitor, analytics, PDF report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Streamlit, Plotly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6890000"/>
                <a:gridCol w="300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Problem definition, literature review, module plan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2E7D32"/>
                          </a:solidFill>
                          <a:latin typeface="Calibri"/>
                        </a:rPr>
                        <a:t>Completed (Review I)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Dataset preparation &amp; YOLO11n detector training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2E7D32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Dataset EDA &amp; homography calibration module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2E7D32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ByteTrack tracking &amp; ground distance engine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B26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5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Time-to-contact &amp; alert rules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B26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6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Event logging &amp; Streamlit dashboard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595959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7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Real-video evaluation &amp; ablation study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595959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Phase 8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Final evaluation, report &amp; paper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595959"/>
                          </a:solidFill>
                          <a:latin typeface="Calibri"/>
                        </a:rPr>
                        <a:t>Planned (Review III)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5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Site Video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CCTV, RTSP or video 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2500" y="20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02500" y="15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Detection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YOLO11n worker / machine boxes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05000" y="20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5000" y="15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Tracking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ByteTrack IDs + history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07500" y="20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07500" y="15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Ground Mapping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Homography: pixels to metres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98750" y="2520000"/>
            <a:ext cx="0" cy="61000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07500" y="3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Risk Engine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Distance, motion state, TTC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907500" y="36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5000" y="3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Alert Levels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Safe / Warning / Danger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905000" y="36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02500" y="3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Event Log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Near-misses + snapshots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902500" y="3625000"/>
            <a:ext cx="38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0000" y="3150000"/>
            <a:ext cx="2582500" cy="950000"/>
          </a:xfrm>
          <a:prstGeom prst="roundRect">
            <a:avLst>
              <a:gd name="adj" fmla="val 8000"/>
            </a:avLst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Streamlit Dashboard</a:t>
            </a:r>
          </a:p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Live view, analytics,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00" y="4220000"/>
            <a:ext cx="11590000" cy="40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595959"/>
                </a:solidFill>
                <a:latin typeface="Calibri"/>
              </a:rPr>
              <a:t>Flow: video → detection → tracking → ground distance → TTC and alert level → near-miss log → dashboard.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12</cp:revision>
  <dcterms:created xsi:type="dcterms:W3CDTF">2024-05-13T10:33:11Z</dcterms:created>
  <dcterms:modified xsi:type="dcterms:W3CDTF">2025-09-20T12:01:52Z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